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Calibri"/>
              </a:rPr>
              <a:t>PLASTIC POLLUTION INDEX — NEPAL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99232"/>
            <a:ext cx="6858000" cy="4114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Policy Research &amp; Coding  ·  Internship Work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28282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Calibri"/>
              </a:rPr>
              <a:t>WHAT I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28282"/>
                </a:solidFill>
                <a:latin typeface="Calibri"/>
              </a:rPr>
              <a:t>Policy Research &amp; Coding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533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4173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Initial Policy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74519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Claude AI + Ecolex; first scan for national &amp; provincial Nepal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7076" y="13533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6804" y="14173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4588" y="14173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Official Source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6804" y="1874519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Nepali government websites only; keyword + site-type + PDF filetype filtering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2672" y="13533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173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4173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Policy List Compilation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874519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Curated list including provincial level; arranged chronologically per Keerthi's suggestion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2672" y="29535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175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30175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AI-Assisted 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747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Uploaded policy documents to Claude using the provided coding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7076" y="29535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6804" y="30175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588" y="30175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Review &amp; Annotation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46804" y="34747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Flagged hallucinations with comments; compiled emerging questions for supervisor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535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30175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0175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Manual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4747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Directly coded select policies; left uncoded any not found on official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537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46177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6177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Master Sheet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50749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Added all finalised codes to the compiled spreadsheet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37076" y="45537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6804" y="46177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4588" y="46177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Cross-Checking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6804" y="50749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Verified against the main policy list; provincial-level doubts flagged as comments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2672" y="4553712"/>
            <a:ext cx="3364992" cy="1408176"/>
          </a:xfrm>
          <a:prstGeom prst="rect">
            <a:avLst/>
          </a:prstGeom>
          <a:solidFill>
            <a:srgbClr val="F5F5F5"/>
          </a:solidFill>
          <a:ln w="9525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46177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461772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Documentation &amp; Upload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07492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232"/>
                </a:solidFill>
                <a:latin typeface="Calibri"/>
              </a:rPr>
              <a:t>Coded sheets + original policy documents uploaded to SwitchDrive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0470" y="187451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6066" y="187451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0470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6066" y="34747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0470" y="5074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6066" y="5074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26746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42748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8282"/>
                </a:solidFill>
                <a:latin typeface="Calibri"/>
              </a:rPr>
              <a:t>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Calibri"/>
              </a:rPr>
              <a:t>Q1 — INCLUSION OF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28282"/>
                </a:solidFill>
                <a:latin typeface="Calibri"/>
              </a:rPr>
              <a:t>Which policies should be included in the database?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16736"/>
            <a:ext cx="3636264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453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Provincial &amp;
Municipal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Many plastic-related policies exist at sub-national level — omitting them risks significant coverage gaps in the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Should provincial/municipal-level acts and rules be systematically included?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6344" y="1316736"/>
            <a:ext cx="3636264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7784" y="1371600"/>
            <a:ext cx="3453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Main Acts &amp;
Sub-Instruments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7784" y="1975104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Do we list directives under main Acts separately, or only the parent Act?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784" y="3054096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Key case: National Biodiversity &amp; Strategy Action Plan and its sub-directives.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7784" y="4133087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Should lake/biodiversity master plans (enacted centrally) be included if they explicitly mention plastic?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5488" y="1316736"/>
            <a:ext cx="3636264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1371600"/>
            <a:ext cx="3453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Border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6928" y="1975104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Reports — implementation or otherwise (many at local level).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6928" y="3054096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Officially published government reviews, e.g. Review of E &amp; Solar PV Waste Management in Nepal (covers recycling, export to India).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6928" y="4133087"/>
            <a:ext cx="3453383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•  Consultation papers — e.g. Consultation Paper on Regulatory Framework for E-Waste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Calibri"/>
              </a:rPr>
              <a:t>Q2 —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28282"/>
                </a:solidFill>
                <a:latin typeface="Calibri"/>
              </a:rPr>
              <a:t>Clarifications needed on specific spreadsheet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62456"/>
            <a:ext cx="11274552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749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28282"/>
                </a:solidFill>
                <a:latin typeface="Calibri"/>
              </a:rPr>
              <a:t>Col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44752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Quantifiable Targets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499616"/>
            <a:ext cx="13716" cy="548640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444752"/>
            <a:ext cx="8531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Should targets be plastic-specific only, or does general waste management also count?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9424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749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28282"/>
                </a:solidFill>
                <a:latin typeface="Calibri"/>
              </a:rPr>
              <a:t>Col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Type of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2386584"/>
            <a:ext cx="13716" cy="548640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2331720"/>
            <a:ext cx="8531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What distinguishes legislation from orders/rules/regulations? Is plastic-specific legislation required for a score of 1?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36391"/>
            <a:ext cx="11274552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7"/>
            <a:ext cx="749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28282"/>
                </a:solidFill>
                <a:latin typeface="Calibri"/>
              </a:rPr>
              <a:t>Col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7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Policy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3273551"/>
            <a:ext cx="13716" cy="548640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3218687"/>
            <a:ext cx="8531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If a policy broadly covers environment without explicit plastic mention, is it 'well-integrated'? How do we score a tourism or lake preservation plan?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12745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05656"/>
            <a:ext cx="749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28282"/>
                </a:solidFill>
                <a:latin typeface="Calibri"/>
              </a:rPr>
              <a:t>Col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05656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Plastics Life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160520"/>
            <a:ext cx="13716" cy="548640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80944" y="4105656"/>
            <a:ext cx="8531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Which life-cycle stages are in scope? E.g. the EPA covers almost all stages but does not mention recycling — would it still score 1?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10328"/>
            <a:ext cx="11274552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92624"/>
            <a:ext cx="749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28282"/>
                </a:solidFill>
                <a:latin typeface="Calibri"/>
              </a:rPr>
              <a:t>Col 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992624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Calibri"/>
              </a:rPr>
              <a:t>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4368" y="5047488"/>
            <a:ext cx="13716" cy="548640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0944" y="4992624"/>
            <a:ext cx="8531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  <a:latin typeface="Calibri"/>
              </a:rPr>
              <a:t>Should the budget be explicitly for waste/plastic, or does a general policy budget (e.g. tourism promotion) also count?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Calibri"/>
              </a:rPr>
              <a:t>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19"/>
            <a:ext cx="548640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17319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Refine the Policy-Search Claude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74519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232"/>
                </a:solidFill>
                <a:latin typeface="Calibri"/>
              </a:rPr>
              <a:t>Revise the prompt to prioritise official government websites as primary sources, reducing hallucinated or unverifiable policy references.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835640" cy="13716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36391"/>
            <a:ext cx="548640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136391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Arrange Legislation Chronologically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593591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232"/>
                </a:solidFill>
                <a:latin typeface="Calibri"/>
              </a:rPr>
              <a:t>As recommended by Keerthi — edit the Claude prompt so that Acts and their amendments are returned together in chronological order, making the coding timeline easier to follow.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90872"/>
            <a:ext cx="10835640" cy="13716"/>
          </a:xfrm>
          <a:prstGeom prst="rect">
            <a:avLst/>
          </a:prstGeom>
          <a:solidFill>
            <a:srgbClr val="C3C3C3"/>
          </a:solidFill>
          <a:ln>
            <a:solidFill>
              <a:srgbClr val="C3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55464"/>
            <a:ext cx="548640" cy="548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855464"/>
            <a:ext cx="10607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Link Acts with Their Amendments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312664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232"/>
                </a:solidFill>
                <a:latin typeface="Calibri"/>
              </a:rPr>
              <a:t>Explore whether the Claude prompt can automatically pair each principal Act with its associated amendments, rather than listing them as separate entries in the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
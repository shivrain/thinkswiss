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ptos"/>
              </a:rPr>
              <a:t>Plastic Pollution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933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464646"/>
                </a:solidFill>
                <a:latin typeface="Aptos"/>
              </a:rPr>
              <a:t>Policy coding workflow, open questions, and suggestions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788920"/>
            <a:ext cx="484632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4728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64646"/>
                </a:solidFill>
                <a:latin typeface="Aptos"/>
              </a:rPr>
              <a:t>Nepal policy table and coding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Presentation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847088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66544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025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ptos"/>
              </a:rPr>
              <a:t>What I did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232257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64646"/>
                </a:solidFill>
                <a:latin typeface="Aptos"/>
              </a:rPr>
              <a:t>Workflow from policy identification to the final coded 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090672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101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461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ptos"/>
              </a:rPr>
              <a:t>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356616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64646"/>
                </a:solidFill>
                <a:latin typeface="Aptos"/>
              </a:rPr>
              <a:t>Methodological decisions to align before finalizing the index.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334256"/>
            <a:ext cx="10698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55371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4897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ptos"/>
              </a:rPr>
              <a:t>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4809744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464646"/>
                </a:solidFill>
                <a:latin typeface="Aptos"/>
              </a:rPr>
              <a:t>Process improvements for search, coding, quality control, and handoff.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4646"/>
                </a:solidFill>
                <a:latin typeface="Aptos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Aptos"/>
              </a:rPr>
              <a:t>What I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64646"/>
                </a:solidFill>
                <a:latin typeface="Aptos"/>
              </a:rPr>
              <a:t>From policy search and source checks to the final coded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429000"/>
            <a:ext cx="47548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WHAT I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Workflow: how I arrived at the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Scoping and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Defined the working policy universe and expanded the list beyond the initial entries, including relevant provincial and municipal policies.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76272" y="2999232"/>
            <a:ext cx="411480" cy="25603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2032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06624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Source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Located policy documents, prioritized official sources where available, and captured links or document references for the tracker.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78224" y="2999232"/>
            <a:ext cx="411480" cy="25603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08576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AI-assisted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Uploaded policy documents to Claude to extract code-relevant details and draft comments for the policy-coding sheet.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0176" y="2999232"/>
            <a:ext cx="411480" cy="25603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5936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Manual 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Manually coded selected policies where the document was ambiguous, high-impact, or where automated output needed verification.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82128" y="2999232"/>
            <a:ext cx="411480" cy="25603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7888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Cross-checking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Checked Claude outputs against original policy text, corrected hallucinated or unsupported claims, and added clarifying comments.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84080" y="2999232"/>
            <a:ext cx="411480" cy="256032"/>
          </a:xfrm>
          <a:prstGeom prst="rightArrow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49840" y="1828800"/>
            <a:ext cx="1609344" cy="2788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14432" y="1993392"/>
            <a:ext cx="347472" cy="34747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4432" y="20345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1632" y="1975104"/>
            <a:ext cx="832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0000"/>
                </a:solidFill>
                <a:latin typeface="Aptos"/>
              </a:rPr>
              <a:t>Table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468880"/>
            <a:ext cx="1280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 b="0">
                <a:solidFill>
                  <a:srgbClr val="464646"/>
                </a:solidFill>
                <a:latin typeface="Aptos"/>
              </a:rPr>
              <a:t>Entered codes and notes into the compiled sheet, crossed completed policies off the master list, and downloaded coded policy documents for handoff.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1663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Aptos"/>
              </a:rPr>
              <a:t>Result: a coded policy table with comments, source trail, and flagged methodological questions for team review.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WHAT I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Comprehensive list of work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5074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Built and refined the Nepal policy list used for coding.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Added relevant provincial and local policies where they affected plastic or waste governance.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Identified border cases: main Acts, directives, local plans, reports, reviews, and consultation papers.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Uploaded policy documents to Claude for first-pass extraction and coding support.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Reviewed Claude-generated comments and corrected hallucinated or unsupported details.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Manually coded selected policies when automation was not reliable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64208"/>
            <a:ext cx="5074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Cross-checked coded entries against policy documents and available source links.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Added comments explaining uncertain or interpretive coding decisions.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Entered final code values into the compiled table and updated the master tracking list.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Marked completed policies by crossing them off the main list.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Downloaded and organized coded policy documents for auditability.</a:t>
            </a:r>
          </a:p>
          <a:p>
            <a:pPr>
              <a:spcAft>
                <a:spcPts val="528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- Flagged unresolved questions by table column for supervisor/team alignment.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600200"/>
            <a:ext cx="18288" cy="4434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WHAT I DID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Quality controls used before finalizing entries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527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183879"/>
              </a:tblGrid>
              <a:tr h="7086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Source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Verified policy title, date/year, jurisdiction, and document/source link where possible.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Coding support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Used Claude for extraction, but treated it as a draft rather than a final authority.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Re-coded or checked policies with ambiguous scope, unclear legal status, or important index implications.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Comment trail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Added comments where the code depended on interpretation or where the policy text was not explicit.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Completion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Updated the compiled sheet and crossed completed policies off the main list to avoid duplication.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4646"/>
                </a:solidFill>
                <a:latin typeface="Aptos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Apto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64646"/>
                </a:solidFill>
                <a:latin typeface="Aptos"/>
              </a:rPr>
              <a:t>Decisions needed to make coding consistent across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429000"/>
            <a:ext cx="47548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Questions: inclusion of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81912"/>
          <a:ext cx="1083563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26679"/>
              </a:tblGrid>
              <a:tr h="832104">
                <a:tc>
                  <a:txBody>
                    <a:bodyPr/>
                    <a:lstStyle/>
                    <a:p>
                      <a:pPr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 area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for alignment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Provincial / municipal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local-level policies be included when they contain plastic or waste provisions that would otherwise be missing?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Main Acts vs. directives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smaller directives be coded separately or documented under the parent Act/strategy? Example: directives linked to broader biodiversity strategy documents.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Lake, biodiversity, tourism, and preservation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sectoral plans that mention plastics be included if they are enacted centrally but are not plastic-specific?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Reports, reviews, and consultation papers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4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government-published reviews, implementation reports, and consultation papers be coded, used as context, or excluded?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8" y="5879592"/>
            <a:ext cx="10469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Decision needed: define a consistent inclusion rule before adding or removing borderline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Questions: coding rules by table 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36192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595360"/>
              </a:tblGrid>
              <a:tr h="754380"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for alignment</a:t>
                      </a:r>
                    </a:p>
                  </a:txBody>
                  <a:tcPr>
                    <a:solidFill>
                      <a:srgbClr val="141414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F: Quantifiable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targets count only when they are plastic-specific, or can broader waste targets count when plastics are clearly within scope?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G: Type of policy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How should legislation be distinguished from orders, rules, and regulations? Does plastic-specific focus affect the score?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I: Policy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If an environment, tourism, or lake-preservation policy mentions plastic, how integrated must plastic be to score highly?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N: Plastics life cycle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If a policy covers several life-cycle stages but omits recycling or end-of-life treatment, should it receive a full or partial score?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P: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Should only plastic/waste-specific budget lines count, or can a general policy/program budget count when plastics are part of implementation?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4646"/>
                </a:solidFill>
                <a:latin typeface="Aptos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>
                <a:solidFill>
                  <a:srgbClr val="000000"/>
                </a:solidFill>
                <a:latin typeface="Aptos"/>
              </a:rPr>
              <a:t>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64646"/>
                </a:solidFill>
                <a:latin typeface="Aptos"/>
              </a:rPr>
              <a:t>Ways to make policy search, coding, and review easier to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429000"/>
            <a:ext cx="47548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Suggestions to improve the coding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61848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Search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Revise the Claude policy-search prompt to prioritize official government sources and return source URLs.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61848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7647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Evidence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57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Require a quote, page, section, or paragraph reference for every coded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94436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9067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Chronology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Ask Claude to arrange laws chronologically and group amendments with the principal 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94436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09067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Decision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383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Maintain a short log of inclusion and scoring decisions for recurring border 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27024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41655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Provenance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709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Track source type, official/non-official status, manual check status, and reviewer initials/date.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270248"/>
            <a:ext cx="4983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41655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00000"/>
                </a:solidFill>
                <a:latin typeface="Aptos"/>
              </a:rPr>
              <a:t>Review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09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40" b="0">
                <a:solidFill>
                  <a:srgbClr val="464646"/>
                </a:solidFill>
                <a:latin typeface="Aptos"/>
              </a:rPr>
              <a:t>Run a final consistency pass across high-risk columns after the inclusion rules are agreed.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64646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Aptos"/>
              </a:rPr>
              <a:t>Discussion points for supervisor/team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99669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- Confirm whether provincial and municipal policies should be included in the final table.</a:t>
            </a:r>
          </a:p>
          <a:p>
            <a:pPr>
              <a:spcAft>
                <a:spcPts val="528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- Confirm how to treat parent Acts, directives, amendments, and strategy-linked instruments.</a:t>
            </a:r>
          </a:p>
          <a:p>
            <a:pPr>
              <a:spcAft>
                <a:spcPts val="528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- Decide whether reports, reviews, and consultation papers are codable policy documents or supporting evidence.</a:t>
            </a:r>
          </a:p>
          <a:p>
            <a:pPr>
              <a:spcAft>
                <a:spcPts val="528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- Finalize scoring rules for targets, policy type, integration, life-cycle coverage, and budget.</a:t>
            </a:r>
          </a:p>
          <a:p>
            <a:pPr>
              <a:spcAft>
                <a:spcPts val="528"/>
              </a:spcAft>
              <a:defRPr sz="1600">
                <a:solidFill>
                  <a:srgbClr val="000000"/>
                </a:solidFill>
                <a:latin typeface="Aptos"/>
              </a:defRPr>
            </a:pPr>
            <a:r>
              <a:t>- Apply the agreed rules consistently across the coded table before final handoff.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23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5989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64646"/>
                </a:solidFill>
                <a:latin typeface="Aptos"/>
              </a:rPr>
              <a:t>Questions and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8C8C8C"/>
                </a:solidFill>
                <a:latin typeface="Aptos"/>
              </a:rPr>
              <a:t>Plastic Pollution Index | Internship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8C8C8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
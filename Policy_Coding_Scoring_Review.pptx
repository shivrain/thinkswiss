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46304"/>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920240"/>
            <a:ext cx="8046720" cy="914400"/>
          </a:xfrm>
          <a:prstGeom prst="rect">
            <a:avLst/>
          </a:prstGeom>
          <a:noFill/>
        </p:spPr>
        <p:txBody>
          <a:bodyPr wrap="none">
            <a:spAutoFit/>
          </a:bodyPr>
          <a:lstStyle/>
          <a:p>
            <a:r>
              <a:rPr sz="3000" b="1" i="0">
                <a:solidFill>
                  <a:srgbClr val="1F3A5F"/>
                </a:solidFill>
                <a:latin typeface="Times New Roman"/>
              </a:rPr>
              <a:t>Policy Coding &amp; Scoring Review</a:t>
            </a:r>
          </a:p>
        </p:txBody>
      </p:sp>
      <p:sp>
        <p:nvSpPr>
          <p:cNvPr id="4" name="TextBox 3"/>
          <p:cNvSpPr txBox="1"/>
          <p:nvPr/>
        </p:nvSpPr>
        <p:spPr>
          <a:xfrm>
            <a:off x="548640" y="2834640"/>
            <a:ext cx="8046720" cy="548640"/>
          </a:xfrm>
          <a:prstGeom prst="rect">
            <a:avLst/>
          </a:prstGeom>
          <a:noFill/>
        </p:spPr>
        <p:txBody>
          <a:bodyPr wrap="none">
            <a:spAutoFit/>
          </a:bodyPr>
          <a:lstStyle/>
          <a:p>
            <a:r>
              <a:rPr sz="1500" b="0" i="1">
                <a:solidFill>
                  <a:srgbClr val="2E6B9E"/>
                </a:solidFill>
                <a:latin typeface="Times New Roman"/>
              </a:rPr>
              <a:t>Country Review of Assumptions, Inclusions, Policy &amp; Instrument Coding</a:t>
            </a:r>
          </a:p>
        </p:txBody>
      </p:sp>
      <p:sp>
        <p:nvSpPr>
          <p:cNvPr id="5" name="TextBox 4"/>
          <p:cNvSpPr txBox="1"/>
          <p:nvPr/>
        </p:nvSpPr>
        <p:spPr>
          <a:xfrm>
            <a:off x="548640" y="3474720"/>
            <a:ext cx="8046720" cy="320040"/>
          </a:xfrm>
          <a:prstGeom prst="rect">
            <a:avLst/>
          </a:prstGeom>
          <a:noFill/>
        </p:spPr>
        <p:txBody>
          <a:bodyPr wrap="none">
            <a:spAutoFit/>
          </a:bodyPr>
          <a:lstStyle/>
          <a:p>
            <a:r>
              <a:rPr sz="1200" b="0" i="0">
                <a:solidFill>
                  <a:srgbClr val="666666"/>
                </a:solidFill>
                <a:latin typeface="Times New Roman"/>
              </a:rPr>
              <a:t>Review Meeting — July 2026</a:t>
            </a:r>
          </a:p>
        </p:txBody>
      </p:sp>
      <p:sp>
        <p:nvSpPr>
          <p:cNvPr id="6" name="TextBox 5"/>
          <p:cNvSpPr txBox="1"/>
          <p:nvPr/>
        </p:nvSpPr>
        <p:spPr>
          <a:xfrm>
            <a:off x="548640" y="5303520"/>
            <a:ext cx="8046720" cy="731520"/>
          </a:xfrm>
          <a:prstGeom prst="rect">
            <a:avLst/>
          </a:prstGeom>
          <a:noFill/>
        </p:spPr>
        <p:txBody>
          <a:bodyPr wrap="square">
            <a:spAutoFit/>
          </a:bodyPr>
          <a:lstStyle/>
          <a:p>
            <a:pPr algn="ctr"/>
            <a:r>
              <a:rPr sz="1100" b="0" i="1">
                <a:solidFill>
                  <a:srgbClr val="C00000"/>
                </a:solidFill>
                <a:latin typeface="Times New Roman"/>
              </a:rPr>
              <a:t>Note: Norway has no coding or scoring doubts to be discussed in this review. Countries under review: Nepal, Mozambique, Peru, and São Tomé and Príncipe (STP).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3891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52400"/>
          <a:lstStyle/>
          <a:p>
            <a:pPr algn="ctr"/>
            <a:r>
              <a:rPr sz="2400" b="1" i="0">
                <a:solidFill>
                  <a:srgbClr val="FFFFFF"/>
                </a:solidFill>
                <a:latin typeface="Times New Roman"/>
              </a:rPr>
              <a:t>Nepal</a:t>
            </a:r>
          </a:p>
        </p:txBody>
      </p:sp>
      <p:sp>
        <p:nvSpPr>
          <p:cNvPr id="3" name="Rectangle 2"/>
          <p:cNvSpPr/>
          <p:nvPr/>
        </p:nvSpPr>
        <p:spPr>
          <a:xfrm>
            <a:off x="137160" y="475488"/>
            <a:ext cx="2189988"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Assumptions</a:t>
            </a:r>
          </a:p>
        </p:txBody>
      </p:sp>
      <p:sp>
        <p:nvSpPr>
          <p:cNvPr id="4" name="Rectangle 3"/>
          <p:cNvSpPr/>
          <p:nvPr/>
        </p:nvSpPr>
        <p:spPr>
          <a:xfrm>
            <a:off x="2363724" y="475488"/>
            <a:ext cx="2189988"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Policy Inclusion / Exclusions</a:t>
            </a:r>
          </a:p>
        </p:txBody>
      </p:sp>
      <p:sp>
        <p:nvSpPr>
          <p:cNvPr id="5" name="Rectangle 4"/>
          <p:cNvSpPr/>
          <p:nvPr/>
        </p:nvSpPr>
        <p:spPr>
          <a:xfrm>
            <a:off x="4590288" y="475488"/>
            <a:ext cx="2189988"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Policy-Level Fields</a:t>
            </a:r>
          </a:p>
        </p:txBody>
      </p:sp>
      <p:sp>
        <p:nvSpPr>
          <p:cNvPr id="6" name="Rectangle 5"/>
          <p:cNvSpPr/>
          <p:nvPr/>
        </p:nvSpPr>
        <p:spPr>
          <a:xfrm>
            <a:off x="6816852" y="475488"/>
            <a:ext cx="2189988"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Instrument-Level Fields</a:t>
            </a:r>
          </a:p>
        </p:txBody>
      </p:sp>
      <p:sp>
        <p:nvSpPr>
          <p:cNvPr id="7" name="Rectangle 6"/>
          <p:cNvSpPr/>
          <p:nvPr/>
        </p:nvSpPr>
        <p:spPr>
          <a:xfrm>
            <a:off x="137160" y="786384"/>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200"/>
              </a:spcAft>
            </a:pPr>
            <a:r>
              <a:rPr sz="1000" b="0" i="0">
                <a:solidFill>
                  <a:srgbClr val="222222"/>
                </a:solidFill>
                <a:latin typeface="Times New Roman"/>
              </a:rPr>
              <a:t>Mentions plastics explicitly</a:t>
            </a:r>
          </a:p>
        </p:txBody>
      </p:sp>
      <p:sp>
        <p:nvSpPr>
          <p:cNvPr id="8" name="Rectangle 7"/>
          <p:cNvSpPr/>
          <p:nvPr/>
        </p:nvSpPr>
        <p:spPr>
          <a:xfrm>
            <a:off x="2363724" y="786384"/>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The Excise Duty Act, 2002</a:t>
            </a:r>
          </a:p>
          <a:p>
            <a:pPr>
              <a:spcAft>
                <a:spcPts val="300"/>
              </a:spcAft>
            </a:pPr>
            <a:r>
              <a:rPr sz="1000" b="0" i="0">
                <a:solidFill>
                  <a:srgbClr val="C00000"/>
                </a:solidFill>
                <a:latin typeface="Times New Roman"/>
              </a:rPr>
              <a:t>This Act was provisionally included but falls outside the inclusion criteria. It should be removed from the dataset.</a:t>
            </a:r>
          </a:p>
        </p:txBody>
      </p:sp>
      <p:sp>
        <p:nvSpPr>
          <p:cNvPr id="9" name="Rectangle 8"/>
          <p:cNvSpPr/>
          <p:nvPr/>
        </p:nvSpPr>
        <p:spPr>
          <a:xfrm>
            <a:off x="4590288" y="786384"/>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Directive on the Ban of Single-Use Plastics in the Sagarmatha (Everest) Region</a:t>
            </a:r>
          </a:p>
          <a:p>
            <a:pPr>
              <a:spcAft>
                <a:spcPts val="300"/>
              </a:spcAft>
            </a:pPr>
            <a:r>
              <a:rPr sz="1000" b="0" i="0">
                <a:solidFill>
                  <a:srgbClr val="C00000"/>
                </a:solidFill>
                <a:latin typeface="Times New Roman"/>
              </a:rPr>
              <a:t>Valid plastic-specific directive. Sector coding should reflect its multi-sector reach beyond waste management alone.</a:t>
            </a:r>
          </a:p>
          <a:p>
            <a:pPr>
              <a:spcAft>
                <a:spcPts val="400"/>
              </a:spcAft>
            </a:pPr>
            <a:r>
              <a:rPr sz="1000" b="0" i="1">
                <a:solidFill>
                  <a:srgbClr val="444444"/>
                </a:solidFill>
                <a:latin typeface="Times New Roman"/>
              </a:rPr>
              <a:t>"Policy sectors: tourism, waste management, conservation, water, retail, packaging."</a:t>
            </a:r>
          </a:p>
        </p:txBody>
      </p:sp>
      <p:sp>
        <p:nvSpPr>
          <p:cNvPr id="10" name="Rectangle 9"/>
          <p:cNvSpPr/>
          <p:nvPr/>
        </p:nvSpPr>
        <p:spPr>
          <a:xfrm>
            <a:off x="6816852" y="786384"/>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Environment-friendly Local Governance Framework, 2013</a:t>
            </a:r>
          </a:p>
          <a:p>
            <a:pPr>
              <a:spcAft>
                <a:spcPts val="300"/>
              </a:spcAft>
            </a:pPr>
            <a:r>
              <a:rPr sz="1000" b="0" i="0">
                <a:solidFill>
                  <a:srgbClr val="C00000"/>
                </a:solidFill>
                <a:latin typeface="Times New Roman"/>
              </a:rPr>
              <a:t>Documents a comprehensive multi-level plastic bag restriction system across household, Tole, municipality, VDC, and district levels.</a:t>
            </a:r>
          </a:p>
          <a:p>
            <a:pPr>
              <a:spcAft>
                <a:spcPts val="400"/>
              </a:spcAft>
            </a:pPr>
            <a:r>
              <a:rPr sz="1000" b="0" i="1">
                <a:solidFill>
                  <a:srgbClr val="444444"/>
                </a:solidFill>
                <a:latin typeface="Times New Roman"/>
              </a:rPr>
              <a:t>"HOUSEHOLD (Basic): 'Among the inorganic (non-decomposing) wastes, plastics collected separately and sold or gathered in a fixed or specified location' (p.11, p.19). HOUSEHOLD (Advanced): 'Plastic Bag Regulation: Instead of all sorts of plastic bags; jute, cloth or paper bags used and written commitment towards it submitted to the Tole Development Organization.' (p.12, p.20). MUNICIPALITY (Basic): 'Ban on plastic use: Through the decision of municipal counsel, use of plastic restricted as per the national standard approved by the Government of Nepal.' (p.15). DISTRICT (Basic): 'Declaration of plastic bag free district… District level mechanism established to control the import of prohibited plastic bags.' (p.21)."</a:t>
            </a:r>
          </a:p>
          <a:p>
            <a:pPr>
              <a:spcAft>
                <a:spcPts val="600"/>
              </a:spcAft>
            </a:pPr>
            <a:r>
              <a:rPr sz="1000" b="1" i="0">
                <a:solidFill>
                  <a:srgbClr val="C00000"/>
                </a:solidFill>
                <a:latin typeface="Times New Roman"/>
              </a:rPr>
              <a:t>Question: How will we analyze the qualitative data from multi-level governance frameworks like this?</a:t>
            </a:r>
          </a:p>
        </p:txBody>
      </p:sp>
      <p:sp>
        <p:nvSpPr>
          <p:cNvPr id="11" name="Rectangle 10"/>
          <p:cNvSpPr/>
          <p:nvPr/>
        </p:nvSpPr>
        <p:spPr>
          <a:xfrm>
            <a:off x="137160" y="1790395"/>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200"/>
              </a:spcAft>
            </a:pPr>
            <a:r>
              <a:rPr sz="1000" b="0" i="0">
                <a:solidFill>
                  <a:srgbClr val="222222"/>
                </a:solidFill>
                <a:latin typeface="Times New Roman"/>
              </a:rPr>
              <a:t>Anything remotely national</a:t>
            </a:r>
          </a:p>
        </p:txBody>
      </p:sp>
      <p:sp>
        <p:nvSpPr>
          <p:cNvPr id="12" name="Rectangle 11"/>
          <p:cNvSpPr/>
          <p:nvPr/>
        </p:nvSpPr>
        <p:spPr>
          <a:xfrm>
            <a:off x="2363724" y="1790395"/>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Customs Act (Law) 2007</a:t>
            </a:r>
          </a:p>
        </p:txBody>
      </p:sp>
      <p:sp>
        <p:nvSpPr>
          <p:cNvPr id="13" name="Rectangle 12"/>
          <p:cNvSpPr/>
          <p:nvPr/>
        </p:nvSpPr>
        <p:spPr>
          <a:xfrm>
            <a:off x="4590288" y="1790395"/>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Action Plan for Ban on Plastic Bags, 2022</a:t>
            </a:r>
          </a:p>
          <a:p>
            <a:pPr>
              <a:spcAft>
                <a:spcPts val="300"/>
              </a:spcAft>
            </a:pPr>
            <a:r>
              <a:rPr sz="1000" b="0" i="0">
                <a:solidFill>
                  <a:srgbClr val="C00000"/>
                </a:solidFill>
                <a:latin typeface="Times New Roman"/>
              </a:rPr>
              <a:t>Coding relied on secondary sources because the primary Nepali source document has severely corrupted OCR. English-language reporting and SWITCH-Asia (2025) were used to validate content.</a:t>
            </a:r>
          </a:p>
          <a:p>
            <a:pPr>
              <a:spcAft>
                <a:spcPts val="400"/>
              </a:spcAft>
            </a:pPr>
            <a:r>
              <a:rPr sz="1000" b="0" i="1">
                <a:solidFill>
                  <a:srgbClr val="444444"/>
                </a:solidFill>
                <a:latin typeface="Times New Roman"/>
              </a:rPr>
              <a:t>"Sources: partial Nepali text extraction; The Himalayan Times; myRepublica; SWITCH-Asia Nepal plastic policy overview (2025)."</a:t>
            </a:r>
          </a:p>
        </p:txBody>
      </p:sp>
      <p:sp>
        <p:nvSpPr>
          <p:cNvPr id="14" name="Rectangle 13"/>
          <p:cNvSpPr/>
          <p:nvPr/>
        </p:nvSpPr>
        <p:spPr>
          <a:xfrm>
            <a:off x="6816852" y="1790395"/>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Local Government Operation Act</a:t>
            </a:r>
          </a:p>
          <a:p>
            <a:pPr>
              <a:spcAft>
                <a:spcPts val="300"/>
              </a:spcAft>
            </a:pPr>
            <a:r>
              <a:rPr sz="1000" b="0" i="0">
                <a:solidFill>
                  <a:srgbClr val="C00000"/>
                </a:solidFill>
                <a:latin typeface="Times New Roman"/>
              </a:rPr>
              <a:t>Assigns municipal and ward-level waste management functions relevant to plastic waste at the local level.</a:t>
            </a:r>
          </a:p>
          <a:p>
            <a:pPr>
              <a:spcAft>
                <a:spcPts val="400"/>
              </a:spcAft>
            </a:pPr>
            <a:r>
              <a:rPr sz="1000" b="0" i="1">
                <a:solidFill>
                  <a:srgbClr val="444444"/>
                </a:solidFill>
                <a:latin typeface="Times New Roman"/>
              </a:rPr>
              <a:t>"SCHEDULE — MUNICIPAL FUNCTIONS (Section झ): '(6) Raising sanitation awareness and management of health-related waste… (7) Collection, reuse, processing, disposal of health waste… (10) Coordination… for management of waste from sanitation and health sector.' SCHEDULE (Section ञ): '(15) Sanitation and waste management at the local level.' WARD FUNCTIONS: '(11) Collection and management of waste discharged from homes…' MUNICIPALITY CLASSIFICATION (Section 5): 'solid waste processing and management system' as a classification criterion."</a:t>
            </a:r>
          </a:p>
        </p:txBody>
      </p:sp>
      <p:sp>
        <p:nvSpPr>
          <p:cNvPr id="15" name="Rectangle 14"/>
          <p:cNvSpPr/>
          <p:nvPr/>
        </p:nvSpPr>
        <p:spPr>
          <a:xfrm>
            <a:off x="137160" y="2794406"/>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200"/>
              </a:spcAft>
            </a:pPr>
            <a:r>
              <a:rPr sz="1000" b="0" i="0">
                <a:solidFill>
                  <a:srgbClr val="222222"/>
                </a:solidFill>
                <a:latin typeface="Times New Roman"/>
              </a:rPr>
              <a:t>Frameworks are also included</a:t>
            </a:r>
          </a:p>
        </p:txBody>
      </p:sp>
      <p:sp>
        <p:nvSpPr>
          <p:cNvPr id="16" name="Rectangle 15"/>
          <p:cNvSpPr/>
          <p:nvPr/>
        </p:nvSpPr>
        <p:spPr>
          <a:xfrm>
            <a:off x="2363724" y="2794406"/>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National Urban Water Supply and Sanitation Sector Policy, 2009</a:t>
            </a:r>
          </a:p>
        </p:txBody>
      </p:sp>
      <p:sp>
        <p:nvSpPr>
          <p:cNvPr id="17" name="Rectangle 16"/>
          <p:cNvSpPr/>
          <p:nvPr/>
        </p:nvSpPr>
        <p:spPr>
          <a:xfrm>
            <a:off x="4590288" y="2794406"/>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The Sixteenth Plan (FY 2024/25–2028/29)</a:t>
            </a:r>
          </a:p>
          <a:p>
            <a:pPr>
              <a:spcAft>
                <a:spcPts val="300"/>
              </a:spcAft>
            </a:pPr>
            <a:r>
              <a:rPr sz="1000" b="0" i="0">
                <a:solidFill>
                  <a:srgbClr val="C00000"/>
                </a:solidFill>
                <a:latin typeface="Times New Roman"/>
              </a:rPr>
              <a:t>Budget is allocated to waste management and recycling but is not ring-fenced specifically for plastics. Current budget coding should reflect general sector investment rather than plastic-specific funding.</a:t>
            </a:r>
          </a:p>
          <a:p>
            <a:pPr>
              <a:spcAft>
                <a:spcPts val="400"/>
              </a:spcAft>
            </a:pPr>
            <a:r>
              <a:rPr sz="1000" b="0" i="1">
                <a:solidFill>
                  <a:srgbClr val="444444"/>
                </a:solidFill>
                <a:latin typeface="Times New Roman"/>
              </a:rPr>
              <a:t>"Water supply, sewerage, waste management and recycling — total plan investment NPR 3,991 million (Public: NPR 2,091 million / 52.4%; Private: NPR 1,852 million / 46.4%; Cooperative: NPR 48 million / 1.2%). Total plan investment across all sectors: approx. NPR 11,481 billion."</a:t>
            </a:r>
          </a:p>
        </p:txBody>
      </p:sp>
      <p:sp>
        <p:nvSpPr>
          <p:cNvPr id="18" name="Rectangle 17"/>
          <p:cNvSpPr/>
          <p:nvPr/>
        </p:nvSpPr>
        <p:spPr>
          <a:xfrm>
            <a:off x="6816852" y="2794406"/>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Solid Waste Management National Policy</a:t>
            </a:r>
          </a:p>
          <a:p>
            <a:pPr>
              <a:spcAft>
                <a:spcPts val="300"/>
              </a:spcAft>
            </a:pPr>
            <a:r>
              <a:rPr sz="1000" b="0" i="0">
                <a:solidFill>
                  <a:srgbClr val="C00000"/>
                </a:solidFill>
                <a:latin typeface="Times New Roman"/>
              </a:rPr>
              <a:t>Establishes polluter-pays and EPR-like generator responsibility for industrial, chemical, and health waste. Also promotes source segregation and the 3Rs.</a:t>
            </a:r>
          </a:p>
          <a:p>
            <a:pPr>
              <a:spcAft>
                <a:spcPts val="400"/>
              </a:spcAft>
            </a:pPr>
            <a:r>
              <a:rPr sz="1000" b="0" i="1">
                <a:solidFill>
                  <a:srgbClr val="444444"/>
                </a:solidFill>
                <a:latin typeface="Times New Roman"/>
              </a:rPr>
              <a:t>"Art. 10: 'The local levels will be made responsible for management of household waste, whereas the concerned organisation or institution will have to be accountable and responsible in managing hazardous, chemical, industrial and medical waste produced by them.' Strategy 9.1: 'The local level will be made responsible for household waste management and the related producers or organizations for the management of hazardous, chemical, industrial and health institutional waste.' 'The policy has also encouraged segregation of waste at source, and reduction, recycling, and reuse of waste.'"</a:t>
            </a:r>
          </a:p>
        </p:txBody>
      </p:sp>
      <p:sp>
        <p:nvSpPr>
          <p:cNvPr id="19" name="Rectangle 18"/>
          <p:cNvSpPr/>
          <p:nvPr/>
        </p:nvSpPr>
        <p:spPr>
          <a:xfrm>
            <a:off x="137160" y="3798417"/>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200"/>
              </a:spcAft>
            </a:pPr>
            <a:r>
              <a:rPr sz="1000" b="0" i="0">
                <a:solidFill>
                  <a:srgbClr val="222222"/>
                </a:solidFill>
                <a:latin typeface="Times New Roman"/>
              </a:rPr>
              <a:t>Polluter-pay principles count as valid instruments</a:t>
            </a:r>
          </a:p>
        </p:txBody>
      </p:sp>
      <p:sp>
        <p:nvSpPr>
          <p:cNvPr id="20" name="Rectangle 19"/>
          <p:cNvSpPr/>
          <p:nvPr/>
        </p:nvSpPr>
        <p:spPr>
          <a:xfrm>
            <a:off x="2363724" y="3798417"/>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Comprehensive Master Plan of Ghodaghodi Lake Area (2077 BS); Management Plan of Bardia National Park and its Buffer Zone; Bangladesh-Bhutan-India-Nepal (BBIN) ESMF</a:t>
            </a:r>
          </a:p>
        </p:txBody>
      </p:sp>
      <p:sp>
        <p:nvSpPr>
          <p:cNvPr id="21" name="Rectangle 20"/>
          <p:cNvSpPr/>
          <p:nvPr/>
        </p:nvSpPr>
        <p:spPr>
          <a:xfrm>
            <a:off x="4590288" y="3798417"/>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22" name="Rectangle 21"/>
          <p:cNvSpPr/>
          <p:nvPr/>
        </p:nvSpPr>
        <p:spPr>
          <a:xfrm>
            <a:off x="6816852" y="3798417"/>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WTO Trade Policy Review — Report by the Secretariat — Nepal</a:t>
            </a:r>
          </a:p>
          <a:p>
            <a:pPr>
              <a:spcAft>
                <a:spcPts val="300"/>
              </a:spcAft>
            </a:pPr>
            <a:r>
              <a:rPr sz="1000" b="0" i="0">
                <a:solidFill>
                  <a:srgbClr val="C00000"/>
                </a:solidFill>
                <a:latin typeface="Times New Roman"/>
              </a:rPr>
              <a:t>This is a Secretariat report, not an official national policy instrument. It is unclear whether it should substitute for the actual Excise Duty Act and Customs Act.</a:t>
            </a:r>
          </a:p>
          <a:p>
            <a:pPr>
              <a:spcAft>
                <a:spcPts val="600"/>
              </a:spcAft>
            </a:pPr>
            <a:r>
              <a:rPr sz="1000" b="1" i="0">
                <a:solidFill>
                  <a:srgbClr val="C00000"/>
                </a:solidFill>
                <a:latin typeface="Times New Roman"/>
              </a:rPr>
              <a:t>Question: Should this WTO report be included instead of the actual Excise Duty Act and Customs Act, even though it is not an official document?</a:t>
            </a:r>
          </a:p>
        </p:txBody>
      </p:sp>
      <p:sp>
        <p:nvSpPr>
          <p:cNvPr id="23" name="Rectangle 22"/>
          <p:cNvSpPr/>
          <p:nvPr/>
        </p:nvSpPr>
        <p:spPr>
          <a:xfrm>
            <a:off x="137160" y="4802428"/>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24" name="Rectangle 23"/>
          <p:cNvSpPr/>
          <p:nvPr/>
        </p:nvSpPr>
        <p:spPr>
          <a:xfrm>
            <a:off x="2363724" y="4802428"/>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25" name="Rectangle 24"/>
          <p:cNvSpPr/>
          <p:nvPr/>
        </p:nvSpPr>
        <p:spPr>
          <a:xfrm>
            <a:off x="4590288" y="4802428"/>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Ban on Plastic Bottles in High-Class Hotels — Directive / Sectoral Order (2024)</a:t>
            </a:r>
          </a:p>
          <a:p>
            <a:pPr>
              <a:spcAft>
                <a:spcPts val="300"/>
              </a:spcAft>
            </a:pPr>
            <a:r>
              <a:rPr sz="1000" b="0" i="0">
                <a:solidFill>
                  <a:srgbClr val="C00000"/>
                </a:solidFill>
                <a:latin typeface="Times New Roman"/>
              </a:rPr>
              <a:t>The referenced directive could not be located in official sources. Entry may be based on incomplete secondary reporting.</a:t>
            </a:r>
          </a:p>
          <a:p>
            <a:pPr>
              <a:spcAft>
                <a:spcPts val="600"/>
              </a:spcAft>
            </a:pPr>
            <a:r>
              <a:rPr sz="1000" b="1" i="0">
                <a:solidFill>
                  <a:srgbClr val="C00000"/>
                </a:solidFill>
                <a:latin typeface="Times New Roman"/>
              </a:rPr>
              <a:t>Question: Should this entry be deleted given the actual policy document could not be found?</a:t>
            </a:r>
          </a:p>
        </p:txBody>
      </p:sp>
      <p:sp>
        <p:nvSpPr>
          <p:cNvPr id="26" name="Rectangle 25"/>
          <p:cNvSpPr/>
          <p:nvPr/>
        </p:nvSpPr>
        <p:spPr>
          <a:xfrm>
            <a:off x="6816852" y="4802428"/>
            <a:ext cx="2189988" cy="967435"/>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27" name="Rectangle 26"/>
          <p:cNvSpPr/>
          <p:nvPr/>
        </p:nvSpPr>
        <p:spPr>
          <a:xfrm>
            <a:off x="137160" y="5806440"/>
            <a:ext cx="8869680" cy="859536"/>
          </a:xfrm>
          <a:prstGeom prst="rect">
            <a:avLst/>
          </a:prstGeom>
          <a:solidFill>
            <a:srgbClr val="FDF2F2"/>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spcAft>
                <a:spcPts val="400"/>
              </a:spcAft>
            </a:pPr>
            <a:r>
              <a:rPr sz="1000" b="1" i="0">
                <a:solidFill>
                  <a:srgbClr val="8B0000"/>
                </a:solidFill>
                <a:latin typeface="Times New Roman"/>
              </a:rPr>
              <a:t>Policies proposed for removal:</a:t>
            </a:r>
          </a:p>
          <a:p>
            <a:pPr>
              <a:spcAft>
                <a:spcPts val="200"/>
              </a:spcAft>
            </a:pPr>
            <a:r>
              <a:rPr sz="1000" b="0" i="0">
                <a:solidFill>
                  <a:srgbClr val="222222"/>
                </a:solidFill>
                <a:latin typeface="Times New Roman"/>
              </a:rPr>
              <a:t>• The Excise Duty Act, 2002 (not an included Act — provisional entry)</a:t>
            </a:r>
          </a:p>
          <a:p>
            <a:pPr>
              <a:spcAft>
                <a:spcPts val="200"/>
              </a:spcAft>
            </a:pPr>
            <a:r>
              <a:rPr sz="1000" b="0" i="0">
                <a:solidFill>
                  <a:srgbClr val="222222"/>
                </a:solidFill>
                <a:latin typeface="Times New Roman"/>
              </a:rPr>
              <a:t>• WTO Trade Policy Review — Report by the Secretariat — Nepal (non-official document; substitute for Excise/Customs Acts?)</a:t>
            </a:r>
          </a:p>
          <a:p>
            <a:pPr>
              <a:spcAft>
                <a:spcPts val="200"/>
              </a:spcAft>
            </a:pPr>
            <a:r>
              <a:rPr sz="1000" b="0" i="0">
                <a:solidFill>
                  <a:srgbClr val="222222"/>
                </a:solidFill>
                <a:latin typeface="Times New Roman"/>
              </a:rPr>
              <a:t>• Ban on Plastic Bottles in High-Class Hotels — Directive / Sectoral Order (2024) (source document not found)</a:t>
            </a:r>
          </a:p>
        </p:txBody>
      </p:sp>
      <p:sp>
        <p:nvSpPr>
          <p:cNvPr id="28" name="TextBox 27"/>
          <p:cNvSpPr txBox="1"/>
          <p:nvPr/>
        </p:nvSpPr>
        <p:spPr>
          <a:xfrm>
            <a:off x="137160" y="6656832"/>
            <a:ext cx="8869680" cy="137160"/>
          </a:xfrm>
          <a:prstGeom prst="rect">
            <a:avLst/>
          </a:prstGeom>
          <a:noFill/>
        </p:spPr>
        <p:txBody>
          <a:bodyPr wrap="none">
            <a:spAutoFit/>
          </a:bodyPr>
          <a:lstStyle/>
          <a:p>
            <a:r>
              <a:rPr sz="800" b="0" i="1">
                <a:solidFill>
                  <a:srgbClr val="999999"/>
                </a:solidFill>
                <a:latin typeface="Times New Roman"/>
              </a:rPr>
              <a:t>Policy Coding &amp; Scoring Review  |  July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3891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52400"/>
          <a:lstStyle/>
          <a:p>
            <a:pPr algn="ctr"/>
            <a:r>
              <a:rPr sz="2400" b="1" i="0">
                <a:solidFill>
                  <a:srgbClr val="FFFFFF"/>
                </a:solidFill>
                <a:latin typeface="Times New Roman"/>
              </a:rPr>
              <a:t>Mozambique</a:t>
            </a:r>
          </a:p>
        </p:txBody>
      </p:sp>
      <p:sp>
        <p:nvSpPr>
          <p:cNvPr id="3" name="Rectangle 2"/>
          <p:cNvSpPr/>
          <p:nvPr/>
        </p:nvSpPr>
        <p:spPr>
          <a:xfrm>
            <a:off x="137160" y="475488"/>
            <a:ext cx="2932176"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Assumptions</a:t>
            </a:r>
          </a:p>
        </p:txBody>
      </p:sp>
      <p:sp>
        <p:nvSpPr>
          <p:cNvPr id="4" name="Rectangle 3"/>
          <p:cNvSpPr/>
          <p:nvPr/>
        </p:nvSpPr>
        <p:spPr>
          <a:xfrm>
            <a:off x="3105912" y="475488"/>
            <a:ext cx="2932176"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Policy-Level Fields</a:t>
            </a:r>
          </a:p>
        </p:txBody>
      </p:sp>
      <p:sp>
        <p:nvSpPr>
          <p:cNvPr id="5" name="Rectangle 4"/>
          <p:cNvSpPr/>
          <p:nvPr/>
        </p:nvSpPr>
        <p:spPr>
          <a:xfrm>
            <a:off x="6074664" y="475488"/>
            <a:ext cx="2932176"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Instrument-Level Fields</a:t>
            </a:r>
          </a:p>
        </p:txBody>
      </p:sp>
      <p:sp>
        <p:nvSpPr>
          <p:cNvPr id="6" name="Rectangle 5"/>
          <p:cNvSpPr/>
          <p:nvPr/>
        </p:nvSpPr>
        <p:spPr>
          <a:xfrm>
            <a:off x="137160" y="786384"/>
            <a:ext cx="2932176" cy="2674620"/>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200"/>
              </a:spcAft>
            </a:pPr>
            <a:r>
              <a:rPr sz="1000" b="0" i="0">
                <a:solidFill>
                  <a:srgbClr val="222222"/>
                </a:solidFill>
                <a:latin typeface="Times New Roman"/>
              </a:rPr>
              <a:t>Creation of a governing body is an instrument (may/may not be related to plastics) — so far only coordination is explicitly mentioned in the prompt</a:t>
            </a:r>
          </a:p>
        </p:txBody>
      </p:sp>
      <p:sp>
        <p:nvSpPr>
          <p:cNvPr id="7" name="Rectangle 6"/>
          <p:cNvSpPr/>
          <p:nvPr/>
        </p:nvSpPr>
        <p:spPr>
          <a:xfrm>
            <a:off x="3105912" y="786384"/>
            <a:ext cx="2932176" cy="2674620"/>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Regulation on Hazardous Waste Management</a:t>
            </a:r>
          </a:p>
          <a:p>
            <a:pPr>
              <a:spcAft>
                <a:spcPts val="300"/>
              </a:spcAft>
            </a:pPr>
            <a:r>
              <a:rPr sz="1000" b="0" i="0">
                <a:solidFill>
                  <a:srgbClr val="C00000"/>
                </a:solidFill>
                <a:latin typeface="Times New Roman"/>
              </a:rPr>
              <a:t>Art. 25 sets a general solid-waste infrastructure deadline (close open dumps within 3 years), not a quantifiable plastic-specific reduction target. Annexes I/II cover plan objectives and reporting metrics. Fines and payment periods in the annex finance implementation of the Act.</a:t>
            </a:r>
          </a:p>
          <a:p>
            <a:pPr>
              <a:spcAft>
                <a:spcPts val="300"/>
              </a:spcAft>
            </a:pPr>
            <a:r>
              <a:rPr sz="1000" b="1" i="0">
                <a:solidFill>
                  <a:srgbClr val="C00000"/>
                </a:solidFill>
                <a:latin typeface="Times New Roman"/>
              </a:rPr>
              <a:t>Proposed change: Policy target currently scored 0; proposed score 1 (general waste infrastructure target with financing mechanism).</a:t>
            </a:r>
          </a:p>
          <a:p>
            <a:pPr>
              <a:spcAft>
                <a:spcPts val="400"/>
              </a:spcAft>
            </a:pPr>
            <a:r>
              <a:rPr sz="1000" b="0" i="1">
                <a:solidFill>
                  <a:srgbClr val="444444"/>
                </a:solidFill>
                <a:latin typeface="Times New Roman"/>
              </a:rPr>
              <a:t>"Art. 25: close open dumps within 3 years. Annex I/II: plan objectives and reporting metrics — no numeric plastic reduction goals. Annex: fines and payment periods finance the Act."</a:t>
            </a:r>
          </a:p>
        </p:txBody>
      </p:sp>
      <p:sp>
        <p:nvSpPr>
          <p:cNvPr id="8" name="Rectangle 7"/>
          <p:cNvSpPr/>
          <p:nvPr/>
        </p:nvSpPr>
        <p:spPr>
          <a:xfrm>
            <a:off x="6074664" y="786384"/>
            <a:ext cx="2932176" cy="2674620"/>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Regulation on Environmental Quality and Effluent Standards</a:t>
            </a:r>
          </a:p>
          <a:p>
            <a:pPr>
              <a:spcAft>
                <a:spcPts val="300"/>
              </a:spcAft>
            </a:pPr>
            <a:r>
              <a:rPr sz="1000" b="0" i="0">
                <a:solidFill>
                  <a:srgbClr val="C00000"/>
                </a:solidFill>
                <a:latin typeface="Times New Roman"/>
              </a:rPr>
              <a:t>Art. 8 regulates atmospheric pollutant emissions from stationary industrial sources. This is an air-quality/effluent standard, not a plastic waste management instrument.</a:t>
            </a:r>
          </a:p>
          <a:p>
            <a:pPr>
              <a:spcAft>
                <a:spcPts val="400"/>
              </a:spcAft>
            </a:pPr>
            <a:r>
              <a:rPr sz="1000" b="0" i="1">
                <a:solidFill>
                  <a:srgbClr val="444444"/>
                </a:solidFill>
                <a:latin typeface="Times New Roman"/>
              </a:rPr>
              <a:t>"Art. 8: 'Establishes atmospheric pollutant emission standards per industrial establishment, limiting releases from stationary industrial sources.'"</a:t>
            </a:r>
          </a:p>
          <a:p>
            <a:pPr>
              <a:spcAft>
                <a:spcPts val="600"/>
              </a:spcAft>
            </a:pPr>
            <a:r>
              <a:rPr sz="1000" b="1" i="0">
                <a:solidFill>
                  <a:srgbClr val="C00000"/>
                </a:solidFill>
                <a:latin typeface="Times New Roman"/>
              </a:rPr>
              <a:t>Question: Should this be excluded as not a relevant plastic policy instrument?</a:t>
            </a:r>
          </a:p>
        </p:txBody>
      </p:sp>
      <p:sp>
        <p:nvSpPr>
          <p:cNvPr id="9" name="Rectangle 8"/>
          <p:cNvSpPr/>
          <p:nvPr/>
        </p:nvSpPr>
        <p:spPr>
          <a:xfrm>
            <a:off x="137160" y="3497580"/>
            <a:ext cx="2932176" cy="2674620"/>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200"/>
              </a:spcAft>
            </a:pPr>
            <a:r>
              <a:rPr sz="1000" b="0" i="0">
                <a:solidFill>
                  <a:srgbClr val="222222"/>
                </a:solidFill>
                <a:latin typeface="Times New Roman"/>
              </a:rPr>
              <a:t>Original text including the translations</a:t>
            </a:r>
          </a:p>
        </p:txBody>
      </p:sp>
      <p:sp>
        <p:nvSpPr>
          <p:cNvPr id="10" name="Rectangle 9"/>
          <p:cNvSpPr/>
          <p:nvPr/>
        </p:nvSpPr>
        <p:spPr>
          <a:xfrm>
            <a:off x="3105912" y="3497580"/>
            <a:ext cx="2932176" cy="2674620"/>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National Strategy for the Management and Conservation of Coral Reefs</a:t>
            </a:r>
          </a:p>
          <a:p>
            <a:pPr>
              <a:spcAft>
                <a:spcPts val="300"/>
              </a:spcAft>
            </a:pPr>
            <a:r>
              <a:rPr sz="1000" b="0" i="0">
                <a:solidFill>
                  <a:srgbClr val="C00000"/>
                </a:solidFill>
                <a:latin typeface="Times New Roman"/>
              </a:rPr>
              <a:t>The action plan assigns line-item budgets across three pillars but the in-policy budget is currently scored 0.75, which is not a valid value on the scoring scale.</a:t>
            </a:r>
          </a:p>
          <a:p>
            <a:pPr>
              <a:spcAft>
                <a:spcPts val="300"/>
              </a:spcAft>
            </a:pPr>
            <a:r>
              <a:rPr sz="1000" b="1" i="0">
                <a:solidFill>
                  <a:srgbClr val="C00000"/>
                </a:solidFill>
                <a:latin typeface="Times New Roman"/>
              </a:rPr>
              <a:t>Proposed change: Correct invalid in-policy budget score of 0.75 to a valid scale value.</a:t>
            </a:r>
          </a:p>
          <a:p>
            <a:pPr>
              <a:spcAft>
                <a:spcPts val="400"/>
              </a:spcAft>
            </a:pPr>
            <a:r>
              <a:rPr sz="1000" b="0" i="1">
                <a:solidFill>
                  <a:srgbClr val="444444"/>
                </a:solidFill>
                <a:latin typeface="Times New Roman"/>
              </a:rPr>
              <a:t>"Pillar budgets include: MZN 10 million (reef mapping/validation); MZN 2.1 million (fisheries fiscalization); MZN 1.1 million (extractive-industry mitigation guide); MZN 8.9 million (environmental education pilot); MZN 1.7 million (communication plan). Pillar 3 target: sustainable financing mechanism by 2025 (ProAzul, government funds)."</a:t>
            </a:r>
          </a:p>
        </p:txBody>
      </p:sp>
      <p:sp>
        <p:nvSpPr>
          <p:cNvPr id="11" name="Rectangle 10"/>
          <p:cNvSpPr/>
          <p:nvPr/>
        </p:nvSpPr>
        <p:spPr>
          <a:xfrm>
            <a:off x="6074664" y="3497580"/>
            <a:ext cx="2932176" cy="2674620"/>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12" name="Rectangle 11"/>
          <p:cNvSpPr/>
          <p:nvPr/>
        </p:nvSpPr>
        <p:spPr>
          <a:xfrm>
            <a:off x="137160" y="6208777"/>
            <a:ext cx="8869680" cy="457200"/>
          </a:xfrm>
          <a:prstGeom prst="rect">
            <a:avLst/>
          </a:prstGeom>
          <a:solidFill>
            <a:srgbClr val="FDF2F2"/>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spcAft>
                <a:spcPts val="400"/>
              </a:spcAft>
            </a:pPr>
            <a:r>
              <a:rPr sz="1000" b="1" i="0">
                <a:solidFill>
                  <a:srgbClr val="8B0000"/>
                </a:solidFill>
                <a:latin typeface="Times New Roman"/>
              </a:rPr>
              <a:t>Policies proposed for removal:</a:t>
            </a:r>
          </a:p>
          <a:p>
            <a:pPr>
              <a:spcAft>
                <a:spcPts val="200"/>
              </a:spcAft>
            </a:pPr>
            <a:r>
              <a:rPr sz="1000" b="0" i="0">
                <a:solidFill>
                  <a:srgbClr val="222222"/>
                </a:solidFill>
                <a:latin typeface="Times New Roman"/>
              </a:rPr>
              <a:t>• Regulation on Environmental Quality and Effluent Standards (air-quality standard — not a relevant plastic instrument)</a:t>
            </a:r>
          </a:p>
        </p:txBody>
      </p:sp>
      <p:sp>
        <p:nvSpPr>
          <p:cNvPr id="13" name="TextBox 12"/>
          <p:cNvSpPr txBox="1"/>
          <p:nvPr/>
        </p:nvSpPr>
        <p:spPr>
          <a:xfrm>
            <a:off x="137160" y="6656832"/>
            <a:ext cx="8869680" cy="137160"/>
          </a:xfrm>
          <a:prstGeom prst="rect">
            <a:avLst/>
          </a:prstGeom>
          <a:noFill/>
        </p:spPr>
        <p:txBody>
          <a:bodyPr wrap="none">
            <a:spAutoFit/>
          </a:bodyPr>
          <a:lstStyle/>
          <a:p>
            <a:r>
              <a:rPr sz="800" b="0" i="1">
                <a:solidFill>
                  <a:srgbClr val="999999"/>
                </a:solidFill>
                <a:latin typeface="Times New Roman"/>
              </a:rPr>
              <a:t>Policy Coding &amp; Scoring Review  |  July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3891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52400"/>
          <a:lstStyle/>
          <a:p>
            <a:pPr algn="ctr"/>
            <a:r>
              <a:rPr sz="2400" b="1" i="0">
                <a:solidFill>
                  <a:srgbClr val="FFFFFF"/>
                </a:solidFill>
                <a:latin typeface="Times New Roman"/>
              </a:rPr>
              <a:t>Peru</a:t>
            </a:r>
          </a:p>
        </p:txBody>
      </p:sp>
      <p:sp>
        <p:nvSpPr>
          <p:cNvPr id="3" name="Rectangle 2"/>
          <p:cNvSpPr/>
          <p:nvPr/>
        </p:nvSpPr>
        <p:spPr>
          <a:xfrm>
            <a:off x="137160" y="475488"/>
            <a:ext cx="2932176"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Assumptions</a:t>
            </a:r>
          </a:p>
        </p:txBody>
      </p:sp>
      <p:sp>
        <p:nvSpPr>
          <p:cNvPr id="4" name="Rectangle 3"/>
          <p:cNvSpPr/>
          <p:nvPr/>
        </p:nvSpPr>
        <p:spPr>
          <a:xfrm>
            <a:off x="3105912" y="475488"/>
            <a:ext cx="2932176"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Policy-Level Fields</a:t>
            </a:r>
          </a:p>
        </p:txBody>
      </p:sp>
      <p:sp>
        <p:nvSpPr>
          <p:cNvPr id="5" name="Rectangle 4"/>
          <p:cNvSpPr/>
          <p:nvPr/>
        </p:nvSpPr>
        <p:spPr>
          <a:xfrm>
            <a:off x="6074664" y="475488"/>
            <a:ext cx="2932176"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Instrument-Level Fields</a:t>
            </a:r>
          </a:p>
        </p:txBody>
      </p:sp>
      <p:sp>
        <p:nvSpPr>
          <p:cNvPr id="6" name="Rectangle 5"/>
          <p:cNvSpPr/>
          <p:nvPr/>
        </p:nvSpPr>
        <p:spPr>
          <a:xfrm>
            <a:off x="137160" y="7863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200"/>
              </a:spcAft>
            </a:pPr>
            <a:r>
              <a:rPr sz="1000" b="0" i="0">
                <a:solidFill>
                  <a:srgbClr val="222222"/>
                </a:solidFill>
                <a:latin typeface="Times New Roman"/>
              </a:rPr>
              <a:t>Original text including the translations</a:t>
            </a:r>
          </a:p>
        </p:txBody>
      </p:sp>
      <p:sp>
        <p:nvSpPr>
          <p:cNvPr id="7" name="Rectangle 6"/>
          <p:cNvSpPr/>
          <p:nvPr/>
        </p:nvSpPr>
        <p:spPr>
          <a:xfrm>
            <a:off x="3105912" y="7863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Supreme Decree No. 001-2022-MINAM — Amendments to the Regulation of Legislative Decree</a:t>
            </a:r>
          </a:p>
          <a:p>
            <a:pPr>
              <a:spcAft>
                <a:spcPts val="300"/>
              </a:spcAft>
            </a:pPr>
            <a:r>
              <a:rPr sz="1000" b="0" i="0">
                <a:solidFill>
                  <a:srgbClr val="C00000"/>
                </a:solidFill>
                <a:latin typeface="Times New Roman"/>
              </a:rPr>
              <a:t>This decree establishes a clear institutional financing mechanism for waste management through involved entities' budgets and inter-institutional cleaning-fee agreements — qualifying as a full budget source.</a:t>
            </a:r>
          </a:p>
          <a:p>
            <a:pPr>
              <a:spcAft>
                <a:spcPts val="300"/>
              </a:spcAft>
            </a:pPr>
            <a:r>
              <a:rPr sz="1000" b="1" i="0">
                <a:solidFill>
                  <a:srgbClr val="C00000"/>
                </a:solidFill>
                <a:latin typeface="Times New Roman"/>
              </a:rPr>
              <a:t>Proposed change: In-policy budget score: 0.5 → 1.</a:t>
            </a:r>
          </a:p>
          <a:p>
            <a:pPr>
              <a:spcAft>
                <a:spcPts val="400"/>
              </a:spcAft>
            </a:pPr>
            <a:r>
              <a:rPr sz="1000" b="0" i="1">
                <a:solidFill>
                  <a:srgbClr val="444444"/>
                </a:solidFill>
                <a:latin typeface="Times New Roman"/>
              </a:rPr>
              <a:t>"Art. 6: 'financiamiento con cargo al presupuesto institucional de los pliegos involucrados, sin recursos adicionales del Tesoro Público.' / 'financing from institutional budgets of involved entities, without additional Treasury resources.' Art. 34-A: 'convenios interinstitucionales para recaudación de arbitrios de limpieza pública.' / 'inter-institutional agreements for collection of municipal cleaning-fee revenue.'"</a:t>
            </a:r>
          </a:p>
        </p:txBody>
      </p:sp>
      <p:sp>
        <p:nvSpPr>
          <p:cNvPr id="8" name="Rectangle 7"/>
          <p:cNvSpPr/>
          <p:nvPr/>
        </p:nvSpPr>
        <p:spPr>
          <a:xfrm>
            <a:off x="6074664" y="7863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Law that Regulates the Activity of Waste Pickers (Recyclers)</a:t>
            </a:r>
          </a:p>
          <a:p>
            <a:pPr>
              <a:spcAft>
                <a:spcPts val="300"/>
              </a:spcAft>
            </a:pPr>
            <a:r>
              <a:rPr sz="1000" b="0" i="0">
                <a:solidFill>
                  <a:srgbClr val="C00000"/>
                </a:solidFill>
                <a:latin typeface="Times New Roman"/>
              </a:rPr>
              <a:t>Beyond core regulatory provisions, the law includes symbolic/complementary provisions (national day, awards, regulation deadline) that may or may not qualify as policy instruments under our coding criteria.</a:t>
            </a:r>
          </a:p>
          <a:p>
            <a:pPr>
              <a:spcAft>
                <a:spcPts val="400"/>
              </a:spcAft>
            </a:pPr>
            <a:r>
              <a:rPr sz="1000" b="0" i="1">
                <a:solidFill>
                  <a:srgbClr val="444444"/>
                </a:solidFill>
                <a:latin typeface="Times New Roman"/>
              </a:rPr>
              <a:t>"Complementary Provision First: 'National Recycler Day is commemorated on 1 June each year.' Complementary Provision Second: 'National Recycling Award created under Ministry of Environment, awarded annually…' Final Complementary Provision: 'Executive Power must approve, within 120 days of the law's entry into force, the regulation of this Law by supreme decree.'"</a:t>
            </a:r>
          </a:p>
          <a:p>
            <a:pPr>
              <a:spcAft>
                <a:spcPts val="600"/>
              </a:spcAft>
            </a:pPr>
            <a:r>
              <a:rPr sz="1000" b="1" i="0">
                <a:solidFill>
                  <a:srgbClr val="C00000"/>
                </a:solidFill>
                <a:latin typeface="Times New Roman"/>
              </a:rPr>
              <a:t>Question: Should these complementary legal/day-declaration provisions be included as instruments?</a:t>
            </a:r>
          </a:p>
        </p:txBody>
      </p:sp>
      <p:sp>
        <p:nvSpPr>
          <p:cNvPr id="9" name="Rectangle 8"/>
          <p:cNvSpPr/>
          <p:nvPr/>
        </p:nvSpPr>
        <p:spPr>
          <a:xfrm>
            <a:off x="137160" y="27675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10" name="Rectangle 9"/>
          <p:cNvSpPr/>
          <p:nvPr/>
        </p:nvSpPr>
        <p:spPr>
          <a:xfrm>
            <a:off x="3105912" y="27675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Law that Amends Legislative Decree No. 1278 — Introducing Industrialization of Recycling</a:t>
            </a:r>
          </a:p>
          <a:p>
            <a:pPr>
              <a:spcAft>
                <a:spcPts val="300"/>
              </a:spcAft>
            </a:pPr>
            <a:r>
              <a:rPr sz="1000" b="0" i="0">
                <a:solidFill>
                  <a:srgbClr val="C00000"/>
                </a:solidFill>
                <a:latin typeface="Times New Roman"/>
              </a:rPr>
              <a:t>The law promotes public, private, and mixed investment in valorization infrastructure but does not allocate a specific budget line. Current score of 0.75 is not on the valid scale.</a:t>
            </a:r>
          </a:p>
          <a:p>
            <a:pPr>
              <a:spcAft>
                <a:spcPts val="300"/>
              </a:spcAft>
            </a:pPr>
            <a:r>
              <a:rPr sz="1000" b="1" i="0">
                <a:solidFill>
                  <a:srgbClr val="C00000"/>
                </a:solidFill>
                <a:latin typeface="Times New Roman"/>
              </a:rPr>
              <a:t>Proposed change: In-policy budget score: 0.75 → 0.5.</a:t>
            </a:r>
          </a:p>
          <a:p>
            <a:pPr>
              <a:spcAft>
                <a:spcPts val="400"/>
              </a:spcAft>
            </a:pPr>
            <a:r>
              <a:rPr sz="1000" b="0" i="1">
                <a:solidFill>
                  <a:srgbClr val="444444"/>
                </a:solidFill>
                <a:latin typeface="Times New Roman"/>
              </a:rPr>
              <a:t>"Art. 6(e): 'promotion of public, private and mixed investment in valorization infrastructure.' Art. 21(a): 'regional public, mixed or private investment programs for valorization infrastructure.'"</a:t>
            </a:r>
          </a:p>
        </p:txBody>
      </p:sp>
      <p:sp>
        <p:nvSpPr>
          <p:cNvPr id="11" name="Rectangle 10"/>
          <p:cNvSpPr/>
          <p:nvPr/>
        </p:nvSpPr>
        <p:spPr>
          <a:xfrm>
            <a:off x="6074664" y="27675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Regulation of Law N.° 29419 (Waste Pickers Law)</a:t>
            </a:r>
          </a:p>
          <a:p>
            <a:pPr>
              <a:spcAft>
                <a:spcPts val="300"/>
              </a:spcAft>
            </a:pPr>
            <a:r>
              <a:rPr sz="1000" b="0" i="0">
                <a:solidFill>
                  <a:srgbClr val="C00000"/>
                </a:solidFill>
                <a:latin typeface="Times New Roman"/>
              </a:rPr>
              <a:t>Art. 37 imposes a health/safety requirement on recyclers rather than a waste-management policy instrument. Relevance to plastic policy coding is questionable.</a:t>
            </a:r>
          </a:p>
          <a:p>
            <a:pPr>
              <a:spcAft>
                <a:spcPts val="400"/>
              </a:spcAft>
            </a:pPr>
            <a:r>
              <a:rPr sz="1000" b="0" i="1">
                <a:solidFill>
                  <a:srgbClr val="444444"/>
                </a:solidFill>
                <a:latin typeface="Times New Roman"/>
              </a:rPr>
              <a:t>"Art. 37: 'All recyclers must be vaccinated against Hepatitis B and Tetanus; municipalities promote mass vaccination with Health Ministry; health facilities must issue vaccination cards.'"</a:t>
            </a:r>
          </a:p>
          <a:p>
            <a:pPr>
              <a:spcAft>
                <a:spcPts val="600"/>
              </a:spcAft>
            </a:pPr>
            <a:r>
              <a:rPr sz="1000" b="1" i="0">
                <a:solidFill>
                  <a:srgbClr val="C00000"/>
                </a:solidFill>
                <a:latin typeface="Times New Roman"/>
              </a:rPr>
              <a:t>Question: Should Art. 37 (vaccination requirement) be included as an instrument?</a:t>
            </a:r>
          </a:p>
        </p:txBody>
      </p:sp>
      <p:sp>
        <p:nvSpPr>
          <p:cNvPr id="12" name="Rectangle 11"/>
          <p:cNvSpPr/>
          <p:nvPr/>
        </p:nvSpPr>
        <p:spPr>
          <a:xfrm>
            <a:off x="137160" y="47487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13" name="Rectangle 12"/>
          <p:cNvSpPr/>
          <p:nvPr/>
        </p:nvSpPr>
        <p:spPr>
          <a:xfrm>
            <a:off x="3105912" y="47487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Article 9 of the Regulation of Legislative Decree No. 1278 (PLANRES Provision)</a:t>
            </a:r>
          </a:p>
          <a:p>
            <a:pPr>
              <a:spcAft>
                <a:spcPts val="300"/>
              </a:spcAft>
            </a:pPr>
            <a:r>
              <a:rPr sz="1000" b="0" i="0">
                <a:solidFill>
                  <a:srgbClr val="C00000"/>
                </a:solidFill>
                <a:latin typeface="Times New Roman"/>
              </a:rPr>
              <a:t>PLANRES is a periodic planning/reporting framework (updated every 10 years) with annual progress reporting — not a quantifiable plastic-specific policy target.</a:t>
            </a:r>
          </a:p>
          <a:p>
            <a:pPr>
              <a:spcAft>
                <a:spcPts val="300"/>
              </a:spcAft>
            </a:pPr>
            <a:r>
              <a:rPr sz="1000" b="1" i="0">
                <a:solidFill>
                  <a:srgbClr val="C00000"/>
                </a:solidFill>
                <a:latin typeface="Times New Roman"/>
              </a:rPr>
              <a:t>Proposed change: Policy target score: 1 → 0.</a:t>
            </a:r>
          </a:p>
          <a:p>
            <a:pPr>
              <a:spcAft>
                <a:spcPts val="400"/>
              </a:spcAft>
            </a:pPr>
            <a:r>
              <a:rPr sz="1000" b="0" i="1">
                <a:solidFill>
                  <a:srgbClr val="444444"/>
                </a:solidFill>
                <a:latin typeface="Times New Roman"/>
              </a:rPr>
              <a:t>"PLANRES updated every 10 years. Competent authorities submit information to MINAM by last business day of April. MINAM annually publishes progress reports. MINAM submits annual PLANRES compliance report to CEPLAN and Congress Environment Commission."</a:t>
            </a:r>
          </a:p>
        </p:txBody>
      </p:sp>
      <p:sp>
        <p:nvSpPr>
          <p:cNvPr id="14" name="Rectangle 13"/>
          <p:cNvSpPr/>
          <p:nvPr/>
        </p:nvSpPr>
        <p:spPr>
          <a:xfrm>
            <a:off x="6074664" y="4748784"/>
            <a:ext cx="2932176" cy="1944624"/>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400"/>
              </a:spcAft>
            </a:pPr>
            <a:r>
              <a:rPr sz="1000" b="0" i="0">
                <a:solidFill>
                  <a:srgbClr val="AAAAAA"/>
                </a:solidFill>
                <a:latin typeface="Times New Roman"/>
              </a:rPr>
              <a:t>—</a:t>
            </a:r>
          </a:p>
        </p:txBody>
      </p:sp>
      <p:sp>
        <p:nvSpPr>
          <p:cNvPr id="15" name="TextBox 14"/>
          <p:cNvSpPr txBox="1"/>
          <p:nvPr/>
        </p:nvSpPr>
        <p:spPr>
          <a:xfrm>
            <a:off x="137160" y="6656832"/>
            <a:ext cx="8869680" cy="137160"/>
          </a:xfrm>
          <a:prstGeom prst="rect">
            <a:avLst/>
          </a:prstGeom>
          <a:noFill/>
        </p:spPr>
        <p:txBody>
          <a:bodyPr wrap="none">
            <a:spAutoFit/>
          </a:bodyPr>
          <a:lstStyle/>
          <a:p>
            <a:r>
              <a:rPr sz="800" b="0" i="1">
                <a:solidFill>
                  <a:srgbClr val="999999"/>
                </a:solidFill>
                <a:latin typeface="Times New Roman"/>
              </a:rPr>
              <a:t>Policy Coding &amp; Scoring Review  |  July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3891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52400"/>
          <a:lstStyle/>
          <a:p>
            <a:pPr algn="ctr"/>
            <a:r>
              <a:rPr sz="2400" b="1" i="0">
                <a:solidFill>
                  <a:srgbClr val="FFFFFF"/>
                </a:solidFill>
                <a:latin typeface="Times New Roman"/>
              </a:rPr>
              <a:t>São Tomé and Príncipe (STP)</a:t>
            </a:r>
          </a:p>
        </p:txBody>
      </p:sp>
      <p:sp>
        <p:nvSpPr>
          <p:cNvPr id="3" name="Rectangle 2"/>
          <p:cNvSpPr/>
          <p:nvPr/>
        </p:nvSpPr>
        <p:spPr>
          <a:xfrm>
            <a:off x="137160" y="475488"/>
            <a:ext cx="8869680"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76200" tIns="12700"/>
          <a:lstStyle/>
          <a:p>
            <a:pPr algn="ctr"/>
            <a:r>
              <a:rPr sz="1100" b="1" i="0">
                <a:solidFill>
                  <a:srgbClr val="FFFFFF"/>
                </a:solidFill>
                <a:latin typeface="Times New Roman"/>
              </a:rPr>
              <a:t>Instrument-Level Fields</a:t>
            </a:r>
          </a:p>
        </p:txBody>
      </p:sp>
      <p:sp>
        <p:nvSpPr>
          <p:cNvPr id="4" name="Rectangle 3"/>
          <p:cNvSpPr/>
          <p:nvPr/>
        </p:nvSpPr>
        <p:spPr>
          <a:xfrm>
            <a:off x="137160" y="786384"/>
            <a:ext cx="8869680" cy="2574036"/>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National Plan for Integrated Urban Solid Waste Management (PNGIRSU) 2018–2023</a:t>
            </a:r>
          </a:p>
          <a:p>
            <a:pPr>
              <a:spcAft>
                <a:spcPts val="300"/>
              </a:spcAft>
            </a:pPr>
            <a:r>
              <a:rPr sz="1000" b="0" i="0">
                <a:solidFill>
                  <a:srgbClr val="C00000"/>
                </a:solidFill>
                <a:latin typeface="Times New Roman"/>
              </a:rPr>
              <a:t>This is a waste projection/inventory exercise documenting future special waste streams — not a regulatory or programmatic instrument.</a:t>
            </a:r>
          </a:p>
          <a:p>
            <a:pPr>
              <a:spcAft>
                <a:spcPts val="400"/>
              </a:spcAft>
            </a:pPr>
            <a:r>
              <a:rPr sz="1000" b="0" i="1">
                <a:solidFill>
                  <a:srgbClr val="444444"/>
                </a:solidFill>
                <a:latin typeface="Times New Roman"/>
              </a:rPr>
              <a:t>"Projects special waste streams: '(i) Solventes e tintas; (ii) Pneus; (iii) Óleos usados; (iv) Resíduos de Equipamentos Elétricos e Eletrónicos; e (v) Veículos em Fim de Vida' — projected to reach 742 and 758 tonnes/year in 2022 and 2023 respectively."</a:t>
            </a:r>
          </a:p>
          <a:p>
            <a:pPr>
              <a:spcAft>
                <a:spcPts val="600"/>
              </a:spcAft>
            </a:pPr>
            <a:r>
              <a:rPr sz="1000" b="1" i="0">
                <a:solidFill>
                  <a:srgbClr val="C00000"/>
                </a:solidFill>
                <a:latin typeface="Times New Roman"/>
              </a:rPr>
              <a:t>Question: Should this entry be removed as a projection/inventory rather than an instrument?</a:t>
            </a:r>
          </a:p>
        </p:txBody>
      </p:sp>
      <p:sp>
        <p:nvSpPr>
          <p:cNvPr id="5" name="Rectangle 4"/>
          <p:cNvSpPr/>
          <p:nvPr/>
        </p:nvSpPr>
        <p:spPr>
          <a:xfrm>
            <a:off x="137160" y="3396996"/>
            <a:ext cx="8869680" cy="2574036"/>
          </a:xfrm>
          <a:prstGeom prst="rect">
            <a:avLst/>
          </a:prstGeom>
          <a:solidFill>
            <a:srgbClr val="FAFAFA"/>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t" wrap="square" lIns="76200" rIns="76200" tIns="63500" bIns="50800"/>
          <a:lstStyle/>
          <a:p>
            <a:pPr algn="ctr">
              <a:spcAft>
                <a:spcPts val="300"/>
              </a:spcAft>
            </a:pPr>
            <a:r>
              <a:rPr sz="1000" b="1" i="0">
                <a:solidFill>
                  <a:srgbClr val="2E6B9E"/>
                </a:solidFill>
                <a:latin typeface="Times New Roman"/>
              </a:rPr>
              <a:t>PNGIRSU 2018–2023 — National Waste Characterisation Exercise</a:t>
            </a:r>
          </a:p>
          <a:p>
            <a:pPr>
              <a:spcAft>
                <a:spcPts val="300"/>
              </a:spcAft>
            </a:pPr>
            <a:r>
              <a:rPr sz="1000" b="0" i="0">
                <a:solidFill>
                  <a:srgbClr val="C00000"/>
                </a:solidFill>
                <a:latin typeface="Times New Roman"/>
              </a:rPr>
              <a:t>Founded on approximately one year of national waste data tracking. Produces district-level generation, collection coverage, and composition data — a data collection exercise, not a policy instrument.</a:t>
            </a:r>
          </a:p>
          <a:p>
            <a:pPr>
              <a:spcAft>
                <a:spcPts val="400"/>
              </a:spcAft>
            </a:pPr>
            <a:r>
              <a:rPr sz="1000" b="0" i="1">
                <a:solidFill>
                  <a:srgbClr val="444444"/>
                </a:solidFill>
                <a:latin typeface="Times New Roman"/>
              </a:rPr>
              <a:t>"National average 0.39 kg/capita/day; total 197,700 t/year (2018). Collection coverage: national average 38%. Waste composition tracks 'Plásticos de todos os tipos' (~5% by weight), biodegradables (~58%), fines/inerts (~18%), paper/cardboard, glass (~5%), textiles, metals, complex materials, hazardous waste."</a:t>
            </a:r>
          </a:p>
          <a:p>
            <a:pPr>
              <a:spcAft>
                <a:spcPts val="600"/>
              </a:spcAft>
            </a:pPr>
            <a:r>
              <a:rPr sz="1000" b="1" i="0">
                <a:solidFill>
                  <a:srgbClr val="C00000"/>
                </a:solidFill>
                <a:latin typeface="Times New Roman"/>
              </a:rPr>
              <a:t>Question: Should this data-tracking exercise be removed from the instrument list?</a:t>
            </a:r>
          </a:p>
        </p:txBody>
      </p:sp>
      <p:sp>
        <p:nvSpPr>
          <p:cNvPr id="6" name="Rectangle 5"/>
          <p:cNvSpPr/>
          <p:nvPr/>
        </p:nvSpPr>
        <p:spPr>
          <a:xfrm>
            <a:off x="137160" y="6007608"/>
            <a:ext cx="8869680" cy="658368"/>
          </a:xfrm>
          <a:prstGeom prst="rect">
            <a:avLst/>
          </a:prstGeom>
          <a:solidFill>
            <a:srgbClr val="FDF2F2"/>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bIns="50800"/>
          <a:lstStyle/>
          <a:p>
            <a:pPr algn="ctr">
              <a:spcAft>
                <a:spcPts val="400"/>
              </a:spcAft>
            </a:pPr>
            <a:r>
              <a:rPr sz="1000" b="1" i="0">
                <a:solidFill>
                  <a:srgbClr val="8B0000"/>
                </a:solidFill>
                <a:latin typeface="Times New Roman"/>
              </a:rPr>
              <a:t>Policies proposed for removal:</a:t>
            </a:r>
          </a:p>
          <a:p>
            <a:pPr>
              <a:spcAft>
                <a:spcPts val="200"/>
              </a:spcAft>
            </a:pPr>
            <a:r>
              <a:rPr sz="1000" b="0" i="0">
                <a:solidFill>
                  <a:srgbClr val="222222"/>
                </a:solidFill>
                <a:latin typeface="Times New Roman"/>
              </a:rPr>
              <a:t>• National Plan for Integrated Urban Solid Waste Management (PNGIRSU) 2018–2023 (projection/inventory — not an instrument)</a:t>
            </a:r>
          </a:p>
          <a:p>
            <a:pPr>
              <a:spcAft>
                <a:spcPts val="200"/>
              </a:spcAft>
            </a:pPr>
            <a:r>
              <a:rPr sz="1000" b="0" i="0">
                <a:solidFill>
                  <a:srgbClr val="222222"/>
                </a:solidFill>
                <a:latin typeface="Times New Roman"/>
              </a:rPr>
              <a:t>• PNGIRSU 2018–2023 — National Waste Characterisation Exercise (data collection — not an instrument)</a:t>
            </a:r>
          </a:p>
        </p:txBody>
      </p:sp>
      <p:sp>
        <p:nvSpPr>
          <p:cNvPr id="7" name="TextBox 6"/>
          <p:cNvSpPr txBox="1"/>
          <p:nvPr/>
        </p:nvSpPr>
        <p:spPr>
          <a:xfrm>
            <a:off x="137160" y="6656832"/>
            <a:ext cx="8869680" cy="137160"/>
          </a:xfrm>
          <a:prstGeom prst="rect">
            <a:avLst/>
          </a:prstGeom>
          <a:noFill/>
        </p:spPr>
        <p:txBody>
          <a:bodyPr wrap="none">
            <a:spAutoFit/>
          </a:bodyPr>
          <a:lstStyle/>
          <a:p>
            <a:r>
              <a:rPr sz="800" b="0" i="1">
                <a:solidFill>
                  <a:srgbClr val="999999"/>
                </a:solidFill>
                <a:latin typeface="Times New Roman"/>
              </a:rPr>
              <a:t>Policy Coding &amp; Scoring Review  |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
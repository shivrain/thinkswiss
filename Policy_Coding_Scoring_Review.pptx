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 i="0">
                <a:solidFill>
                  <a:srgbClr val="1F3A5F"/>
                </a:solidFill>
                <a:latin typeface="Times New Roman"/>
              </a:rPr>
              <a:t>Policy Coding &amp; Scoring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1">
                <a:solidFill>
                  <a:srgbClr val="2E6B9E"/>
                </a:solidFill>
                <a:latin typeface="Times New Roman"/>
              </a:rPr>
              <a:t>Country-by-Country Review of Assumptions, Policy Inclusions, and Instrument-Level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3891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Review Meeting —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7498079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1600" b="1" i="0">
                <a:solidFill>
                  <a:srgbClr val="2E6B9E"/>
                </a:solidFill>
                <a:latin typeface="Times New Roman"/>
              </a:rPr>
              <a:t>1.  </a:t>
            </a:r>
            <a:r>
              <a:rPr sz="1600" b="0" i="0">
                <a:solidFill>
                  <a:srgbClr val="333333"/>
                </a:solidFill>
                <a:latin typeface="Times New Roman"/>
              </a:rPr>
              <a:t>Review coding assumptions applied per country</a:t>
            </a:r>
          </a:p>
          <a:p>
            <a:pPr>
              <a:spcAft>
                <a:spcPts val="1400"/>
              </a:spcAft>
            </a:pPr>
            <a:r>
              <a:rPr sz="1600" b="1" i="0">
                <a:solidFill>
                  <a:srgbClr val="2E6B9E"/>
                </a:solidFill>
                <a:latin typeface="Times New Roman"/>
              </a:rPr>
              <a:t>2.  </a:t>
            </a:r>
            <a:r>
              <a:rPr sz="1600" b="0" i="0">
                <a:solidFill>
                  <a:srgbClr val="333333"/>
                </a:solidFill>
                <a:latin typeface="Times New Roman"/>
              </a:rPr>
              <a:t>Discuss policy inclusion/exclusion decisions</a:t>
            </a:r>
          </a:p>
          <a:p>
            <a:pPr>
              <a:spcAft>
                <a:spcPts val="1400"/>
              </a:spcAft>
            </a:pPr>
            <a:r>
              <a:rPr sz="1600" b="1" i="0">
                <a:solidFill>
                  <a:srgbClr val="2E6B9E"/>
                </a:solidFill>
                <a:latin typeface="Times New Roman"/>
              </a:rPr>
              <a:t>3.  </a:t>
            </a:r>
            <a:r>
              <a:rPr sz="1600" b="0" i="0">
                <a:solidFill>
                  <a:srgbClr val="333333"/>
                </a:solidFill>
                <a:latin typeface="Times New Roman"/>
              </a:rPr>
              <a:t>Evaluate policy-level field coding and scoring</a:t>
            </a:r>
          </a:p>
          <a:p>
            <a:pPr>
              <a:spcAft>
                <a:spcPts val="1400"/>
              </a:spcAft>
            </a:pPr>
            <a:r>
              <a:rPr sz="1600" b="1" i="0">
                <a:solidFill>
                  <a:srgbClr val="2E6B9E"/>
                </a:solidFill>
                <a:latin typeface="Times New Roman"/>
              </a:rPr>
              <a:t>4.  </a:t>
            </a:r>
            <a:r>
              <a:rPr sz="1600" b="0" i="0">
                <a:solidFill>
                  <a:srgbClr val="333333"/>
                </a:solidFill>
                <a:latin typeface="Times New Roman"/>
              </a:rPr>
              <a:t>Evaluate instrument-level field coding and scoring</a:t>
            </a:r>
          </a:p>
          <a:p>
            <a:pPr>
              <a:spcAft>
                <a:spcPts val="1400"/>
              </a:spcAft>
            </a:pPr>
            <a:r>
              <a:rPr sz="1600" b="1" i="0">
                <a:solidFill>
                  <a:srgbClr val="2E6B9E"/>
                </a:solidFill>
                <a:latin typeface="Times New Roman"/>
              </a:rPr>
              <a:t>5.  </a:t>
            </a:r>
            <a:r>
              <a:rPr sz="1600" b="0" i="0">
                <a:solidFill>
                  <a:srgbClr val="333333"/>
                </a:solidFill>
                <a:latin typeface="Times New Roman"/>
              </a:rPr>
              <a:t>Resolve open questions for scoring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754880"/>
            <a:ext cx="7498079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Slide structure mirrors the review spreadsheet: Assumptions → Policy Inclusion/Exclusions → Policy-Level Fields → Instrument-Level Fields → Open Questions.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Nepal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 Inclusion / Exclusions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Policy-Level Fields &amp;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Instrument-Level Fields &amp; Comments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841248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Mentions plastics explicitly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841248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The Excise Duty Act, 2002
Comment: Not included Acts — included in sheet for now, will delete. Don't mention plastics explicitly.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841248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Directive on the Ban of Single-Use Plastics in the Sagarmatha (Everest) Region
Comment: Policy sectors list: tourism, waste management, conservation, water, retail, packaging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841248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650" b="0" i="0">
                <a:solidFill>
                  <a:srgbClr val="333333"/>
                </a:solidFill>
                <a:latin typeface="Times New Roman"/>
              </a:rPr>
              <a:t>Environment-friendly Local Governance Framework, 2013
COMPREHENSIVE MULTI-LEVEL PLASTIC BAG RESTRICTION AND BAN SYSTEM:
HOUSEHOLD (Municipal + VDC): Basic — plastics collected separately (p.11, p.19). Advanced — plastic bag regulation; jute/cloth/paper bags (p.12, p.20).
TOLE (Advanced): No non-decomposing wastes/plastics in public places (p.13).
MUNICIPALITY (Basic): Ban on plastic use per national standard; eco-friendly bags encouraged (p.15).
VDC (Basic): Plastic use discouraged. VDC Advanced: eco-friendly bag manufacturing encouraged (p.21–22).
DISTRICT (Basic): Plastic bag free district declaration; district mechanism to control import (p.21).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806854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Anything remotely national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1806854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Customs Act (Law) 2007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806854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Action Plan for Ban on Plastic Bags, 2022
Comment: Reference to other sources — source document in Nepali with severely corrupted OCR. Coding based on: (a) partial Nepali text extraction; (b) English reports (Himalayan Times, myRepublica); (c) SWITCH-Asia Nepal plastic policy overview (2025).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806854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Local Government Operation Act
SCHEDULE — MUNICIPAL FUNCTIONS (Health &amp; Sanitation): waste management, health waste collection/disposal, private-sector coordination (items 6, 7, 10).
SCHEDULE (Local Market &amp; Environment): sanitation/waste management at local level; low-carbon development (15–16).
WARD FUNCTIONS: collection/management of household waste (item 11).
MUNICIPALITY CLASSIFICATION: 'solid waste processing and management system' as classification criterion.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2772460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Frameworks are also included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772460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National Urban Water Supply and Sanitation Sector Policy, 2009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772460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The Sixteenth Plan (FY 2024/25–2028/29)
Comment: Policy budget score — Water supply, sewerage, waste management and recycling: NPR 3,991 million (Public 52.4% / Private 46.4% / Cooperative 1.2%). Total plan investment ~NPR 11,481 billion. Budget exists for waste management/recycling but not ring-fenced for plastic.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2772460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Solid Waste Management National Policy
Art. 10 — Generator responsibility / polluter pays: local levels responsible for household waste; producers accountable for hazardous/industrial/medical waste.
EPR-like provision (Strategy 9.1): producers responsible for hazardous/chemical/industrial/health waste.
Waste segregation at source + 3R encouraged. School curriculum on waste management.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738067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Polluter-pay principles count as valid instruments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3738067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Comprehensive Master Plan of Ghodaghodi Lake Area (2077 BS)
Management Plan of Bardia National Park and its Buffer Zone
Bangladesh-Bhutan-India-Nepal (BBIN) ESMF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3738067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738067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WTO Trade Policy Review — Report by the Secretariat — Nepal
Should I include this or the actual Excise Duty and Customs Act? Can this substitute although not an official document?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4703673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703673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4703673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Ban on Plastic Bottles in High-Class Hotels — Directive / Sectoral Order (2024)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4703673"/>
            <a:ext cx="2157984" cy="91988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Couldn't find the actual policy — should I delete it?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5806440"/>
            <a:ext cx="8778240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Open Questions for Discussion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6062472"/>
            <a:ext cx="8778240" cy="75895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1.: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How will we analyze the qualitative data?</a:t>
            </a:r>
          </a:p>
          <a:p>
            <a:pPr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2.: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the WTO Trade Policy Review be included instead of the actual Excise Duty and Customs Act?</a:t>
            </a:r>
          </a:p>
          <a:p>
            <a:pPr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3.: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the Ban on Plastic Bottles in High-Class Hotels (2024) entry be deleted (policy not found)?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6601968"/>
            <a:ext cx="8778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 i="1">
                <a:solidFill>
                  <a:srgbClr val="999999"/>
                </a:solidFill>
                <a:latin typeface="Times New Roman"/>
              </a:rPr>
              <a:t>Policy Coding &amp; Scoring Review  |  July 2026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Norway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 Inclusion / Exclusions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Policy-Level Fields &amp;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Instrument-Level Fields &amp; Comments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841248"/>
            <a:ext cx="2157984" cy="478231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No entries recorded in review sheet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841248"/>
            <a:ext cx="2157984" cy="478231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841248"/>
            <a:ext cx="2157984" cy="478231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841248"/>
            <a:ext cx="2157984" cy="478231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Awaiting data — please confirm whether Norway should be included in this review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5806440"/>
            <a:ext cx="8778240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Open Questions for Discussion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6062472"/>
            <a:ext cx="8778240" cy="75895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1.: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Norway be included in this review? No coding/scoring entries were provided.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6601968"/>
            <a:ext cx="8778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 i="1">
                <a:solidFill>
                  <a:srgbClr val="999999"/>
                </a:solidFill>
                <a:latin typeface="Times New Roman"/>
              </a:rPr>
              <a:t>Policy Coding &amp; Scoring Review  |  July 2026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Mozambique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 Inclusion / Exclusions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Policy-Level Fields &amp;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Instrument-Level Fields &amp; Comments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841248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Creation of a governing body is an instrument — so far only coordination is explicitly mentioned in the prompt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841248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841248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Regulation on Hazardous Waste Management
Comment: Policy target — not a quantifiable plastic-specific target. Art. 25 (close open dumps in 3 years) is a general solid waste infrastructure deadline, not a plastic target. Annex I/II refer to plan objectives and reporting metrics, not numeric plastic reduction goals. Annex mentions fines, payment periods — fines finance the 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841248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Regulation on Environmental Quality and Effluent Standards
Art. 8: Establishes atmospheric pollutant emission standards per industrial establishment, limiting releases from stationary industrial sources.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3255264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Original text including the translations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3255264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255264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National Strategy for the Management and Conservation of Coral Reefs
Comment: In-policy budget scored 0.75 — doesn't exist on score scale. Text: Action plan assigns line-item budgets across three pillars (e.g. MZN 10M reef mapping; MZN 2.1M fisheries fiscalization; MZN 1.1M extractive-industry mitigation; MZN 8.9M environmental education; MZN 1.7M communication). Pillar 3 target: sustainable financing by 2025.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3255264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5806440"/>
            <a:ext cx="8778240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Open Questions for Discussion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6062472"/>
            <a:ext cx="8778240" cy="75895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1.: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the in-policy budget score of 0.75 be corrected (not on valid score scale)?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01968"/>
            <a:ext cx="8778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 i="1">
                <a:solidFill>
                  <a:srgbClr val="999999"/>
                </a:solidFill>
                <a:latin typeface="Times New Roman"/>
              </a:rPr>
              <a:t>Policy Coding &amp; Scoring Review  |  July 2026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Peru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 Inclusion / Exclusions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Policy-Level Fields &amp;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Instrument-Level Fields &amp; Comments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841248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Original text including the translations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841248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841248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Supreme Decree No. 001-2022-MINAM — Amendments to the Regulation of Legislative Decree
Comment: Budget currently rated 0.5 — proposed score: 1. Art. 6: financing from institutional budgets of involved entities, without additional Treasury resources. Art. 34-A: inter-institutional agreements for collection of municipal cleaning-fee revenue.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841248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Law that Regulates the Activity of Waste Pickers (Recyclers)
Should we include complementary provisions (mostly legal/day declarations)?
• National Recycler Day: 1 June each year.
• National Recycling Award under Ministry of Environment.
• Executive Power must approve regulation within 120 days of law's entry into force.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450592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450592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450592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Law that Amends Legislative Decree No. 1278 — Introducing Industrialization of Recycling
Comment: Budget scored 0.75 (invalid on scale). Art. 6(e): promotion of public/private/mixed investment in valorization infrastructure. Art. 21(a): regional investment programs. No specific budget allocation. Proposed score: 0.5.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2450592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Regulation of Law N.° 29419 (Waste Pickers Law)
Should we include Art. 37: All recyclers must be vaccinated against Hepatitis B and Tetanus; municipalities promote mass vaccination with Health Ministry.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4059936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4059936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059936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Article 9 of the Regulation of Legislative Decree No. 1278 (PLANRES Provision)
Comment: Currently scored 1 for policy targets — proposed score: 0. PLANRES updated every 10 years. Authorities submit info to MINAM by last business day of April. MINAM publishes annual progress reports and compliance report to CEPLAN and Congress.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4059936"/>
            <a:ext cx="2157984" cy="1563624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5806440"/>
            <a:ext cx="8778240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Open Questions for Discussion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6062472"/>
            <a:ext cx="8778240" cy="75895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1.: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Supreme Decree 001-2022-MINAM budget be scored 1 instead of 0.5?</a:t>
            </a:r>
          </a:p>
          <a:p>
            <a:pPr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2.: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LD 1278 amendment budget be scored 0.5 instead of 0.75?</a:t>
            </a:r>
          </a:p>
          <a:p>
            <a:pPr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3.: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PLANRES provision (Art. 9) policy target score be 0 instead of 1?</a:t>
            </a:r>
          </a:p>
          <a:p>
            <a:pPr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4.: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complementary provisions in the Waste Pickers Law be included as instruments?</a:t>
            </a:r>
          </a:p>
          <a:p>
            <a:pPr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5.: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Art. 37 (vaccination requirement) in the Waste Pickers Regulation be included?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" y="6601968"/>
            <a:ext cx="8778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 i="1">
                <a:solidFill>
                  <a:srgbClr val="999999"/>
                </a:solidFill>
                <a:latin typeface="Times New Roman"/>
              </a:rPr>
              <a:t>Policy Coding &amp; Scoring Review  |  July 2026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São Tomé and Príncipe (STP)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 Inclusion / Exclusions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Policy-Level Fields &amp;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566928"/>
            <a:ext cx="2157984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Instrument-Level Fields &amp; Comments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841248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841248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841248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841248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National Plan for Integrated Urban Solid Waste Management (PNGIRSU) 2018–2023
Proposed removal — projection/inventory, not an instrument. Documents special waste streams (solvents, tyres, used oils, WEEE, end-of-life vehicles) projected at 742–758 tonnes/year in 2022–2023.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3255264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3255264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255264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0" i="0">
                <a:solidFill>
                  <a:srgbClr val="333333"/>
                </a:solidFill>
                <a:latin typeface="Times New Roman"/>
              </a:rPr>
              <a:t>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3255264"/>
            <a:ext cx="2157984" cy="2368296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00" b="0" i="0">
                <a:solidFill>
                  <a:srgbClr val="333333"/>
                </a:solidFill>
                <a:latin typeface="Times New Roman"/>
              </a:rPr>
              <a:t>PNGIRSU 2018–2023 (waste characterisation exercise)
Proposed removal — data collection exercise, not an instrument. Founded on ~1 year national waste data tracking. District-level generation data (0.39 kg/capita/day; 197,700 t/year as of 2018). Collection coverage 38% national avg. Waste composition tracks 'Plásticos de todos os tipos' (~5% by weight) alongside biodegradables (~58%), fines/inerts (~18%), paper/cardboard, glass (~5%), textiles, metals, complex materials, hazardous waste.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5806440"/>
            <a:ext cx="8778240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Open Questions for Discussion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6062472"/>
            <a:ext cx="8778240" cy="758952"/>
          </a:xfrm>
          <a:prstGeom prst="rect">
            <a:avLst/>
          </a:prstGeom>
          <a:solidFill>
            <a:srgbClr val="F4F6F8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3500" rIns="63500" tIns="50800" bIns="50800"/>
          <a:lstStyle/>
          <a:p>
            <a:pPr algn="ctr">
              <a:spcAft>
                <a:spcPts val="300"/>
              </a:spcAft>
            </a:pPr>
            <a:r>
              <a:rPr sz="750" b="1" i="0">
                <a:solidFill>
                  <a:srgbClr val="2E6B9E"/>
                </a:solidFill>
                <a:latin typeface="Times New Roman"/>
              </a:rPr>
              <a:t>1.: </a:t>
            </a:r>
            <a:r>
              <a:rPr sz="750" b="0" i="0">
                <a:solidFill>
                  <a:srgbClr val="333333"/>
                </a:solidFill>
                <a:latin typeface="Times New Roman"/>
              </a:rPr>
              <a:t>Should both PNGIRSU 2018–2023 entries be removed (projection/inventory vs. instrument)?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01968"/>
            <a:ext cx="8778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 i="1">
                <a:solidFill>
                  <a:srgbClr val="999999"/>
                </a:solidFill>
                <a:latin typeface="Times New Roman"/>
              </a:rPr>
              <a:t>Policy Coding &amp; Scoring Review  |  July 2026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